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1" autoAdjust="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173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"Hi everyone. We're Group 30, VisionImpossible. We built a binary image classifier for the Krones bottle inspection challenge. Let's walk you through what we did, why we did it, and what we found along the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"The task is straightforward on the surface — look at a photo of a glass bottle and decide: reusable or not. But what makes it genuinely hard is the variety of what counts as a defect. The dataset has 26 defect categories split into three groups. Some labels are always a defect — cracks, mold, insects, liquid residue. Some are only a defect if they exceed a certain size in pixels. And some things that look like defects but actually aren't — like water drops, foam residue, embossing — these are just harmless artifacts the model must learn to ignore. So the challenge isn't just classification, it's learning precise boundaries between what looks like a defect and what actually is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"When we explored the dataset we paid close attention to the competition hints the organizers gave us, because they contained direct observations about the data. One hint specifically said: 'Most ROIs are conveniently close to 512×512 pixels.' That told us cropping to the ROI and resizing to 512×512 would lose almost no information, meaning there would be no distortion or stretching — so we kept that same size the whole time, for both training and prediction, without losing almost anything essential. Another hint said: 'Bottle bases often exhibit rotational symmetry, but the rubber belt holding the bottle does not.' This is a specific observation about the geometry of what the camera sees. The base of the bottle looks identical from any rotation angle. But the rubber belt does change its appearance when you rotate it. This difference affected the augmentations we decided to 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"Let me walk through what actually happens to an image from the moment it's loaded to the moment we get a prediction. First, we load the image and immediately crop it to the ROI using the bounding box coordinates from the COCO annotation file — x, y, width, height marking exactly where the bottle is. Everything outside that rectangle gets thrown away; the model never sees the conveyor belt or any other background. After cropping, we resize to 512×512 and apply ImageNet normalization — subtracting the mean and dividing by the standard deviation of each color channel, using statistics computed from the entire ImageNet dataset. This is not optional — EfficientNet-B3 was pretrained with this exact normalization applied, so its weights expect pixel values in that specific range; skipping it would badly affect the model since its weights aren't adjusted for different input values. The normalized image, as part of a batch of 32, goes through EfficientNet-B3's backbone, which transforms it into feature maps that shrink over time through pooling and striding. Right before the last layer, global average pooling collapses each feature map into a single number, giving us 1536 feature values total. Dropout is then applied — default in this model, not something we added — randomly shutting off some neurons to prevent the network from becoming too dependent on specific ones. The fully connected layer takes all 1536 numbers and outputs a single raw logit. Sigmoid converts that logit into a probability between 0 and 1, and a threshold of 0.55 makes the final binary decision: defective or reusable."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"The starter code used MobileNetV3-Small. We switched to EfficientNet-B3 for a couple of reasons. Firstly, MobileNetV3-Small was designed for mobile phones, meaning it's designed to be fast and small rather than accurate. It has about 2.5 million parameters. That's fast, but it limits how complex the patterns the model can learn from the input. EfficientNet-B3 has around 12 million parameters. EfficientNet was designed by increasing the number of layers, the number of feature maps, and the input image size together in a balanced way, instead of just making one of them bigger. This design helps it get good results on F1-score and other measures, even though it doesn't use a very large number of parameters. For our task, detecting subtle defects requires a model that can pick up on fine visual details — and more parameters help with that. Both models use transfer learning, pretrained on ImageNet's 1.2 million images. We keep all that learned knowledge about edges, textures, and shapes, and replace only the final layer — from outputting 1,000 class scores to a single output neuron for our binary task. That new layer starts with random weights and learns from scratch, while the backbone starts from a very good place. The trade-off is inference speed — EfficientNet-B3 is slower, which costs us on the 30% efficiency component of the score. We accepted that trade-off: a lower efficiency score was worth what we gained in F1."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"Six specific decisions defined our approach. Frozen backbone for the first five epochs — a random-weight output layer produces chaotic gradient signals; if the backbone is unfrozen those signals flow back through all 12 million weights and can destroy what the model already learned, so we let the head stabilize first and unfreeze everything at epoch six. Weighted loss for class imbalance — we calculated the ratio of good to defective bottles and passed it to BCEWithLogitsLoss as pos_weight; e.g. three times more good bottles means pos_weight equals three, so missing a defect costs three times as much. Without this the model could get a low loss just by predicting 'good' for everything. Label smoothing — hard 0/1 labels softened to 0.05/0.95 so the model doesn't become overconfident, which helps generalization. Augmentations based on the data's structure — the organizer's hint about rotational symmetry led us to add vertical flip and random rotation between -180 and +180 degrees, plus 5% random grayscale so the model leans on shape and texture rather than colour, which could fail under different lighting. AdamW with OneCycleLR stepping every batch — AdamW adds weight decay to gently reduce overfitting, and OneCycleLR changes the learning rate every batch through a warmup, peak, and slow decay, which is smoother and more stable than updating once per epoch. And finally, we trained on the full dataset — 35,342 images for up to 30 epochs — rather than the starter's 1,000-image test limit."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"The starter evaluation notebook had four differences from our training pipeline. These were silent issues — it still ran without errors and still produced a submission file. You only notice the problem by carefully comparing the evaluation preprocessing with the training pipeline step by step. Issue one: no ROI cropping at inference. The model was trained on cropped images of just the bottle region, but the starter evaluation notebook resized the full uncropped image and fed it directly to the model — so the model was seeing input that didn't look like what it was trained on. We used the test_annotations_roi_only.json file the organizers added midway, and applied the same ROI crop to all test images. Issue two: missing ImageNet normalization. The starter evaluation only divided pixel values by 255, putting them in [0,1]. But our training pipeline also used ImageNet normalization — the model's weights expect inputs centered around zero with a specific standard deviation per channel, so [0,1] values don't fit what it was trained on. Issue three: ONNX data type mismatch — ONNX Runtime requires float32 inputs, while NumPy defaults to float64; we fixed this by converting to float32 before inference. Issue four: the threshold. The original code used 0.5, but because we penalized missed defects more heavily with pos_weight, the model became biased toward predicting defects. A 0.55 threshold gave better precision without significantly hurting recall, improving our F1 score."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"Our final F1 score on the private leaderboard was 0.9671. At the end of the competition we were ranked 19th on the public leaderboard, which used 30% of the test data. On the final private leaderboard — the other 70% — we moved up to 15th out of 40 groups. We submitted only 7 times, while some teams submitted 40, or even 90 times. Some of those submissions were probably tuned to the public 30%, leading to overfitting, which led to dropped scores and rank. In our case, the public and private scores stayed relatively close. The gap between us and first place was 0.0034 in F1. We submitted 7 times total, which we think reflects good generalization rather than overfitting to the public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"We learned five lessons from this project. The biggest one: always make sure your inference pipeline matches your training pipeline exactly. The normalization issue in the starter notebook would have been invisible to us and led to slightly wrong predictions — we only caught it by reading the evaluation code line by line and noticing the difference. Second — read the competition hints carefully. Two of our augmentation choices, vertical flip and 180-degree rotation, came directly from the organizers' hint about rotational symmetry. Paying attention pays off. Third — freeze before fine-tuning. We trained only the head first, then unfroze the backbone, which made training more stable. Fourth — the threshold is not always 0.5. When we made the model care more about defects, its outputs shifted, so we adjusted the threshold in the evaluation notebook. Fifth — accuracy and speed trade off. EfficientNet-B3 lowered our efficiency score, and we would have looked into this more with more time. That's our project. Thanks for listening."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5-minute Q&amp;A session. Keep this slide up as a visual anchor; refer back to the appendix slides if a question matches one of the prepared answers.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F36"/>
        </a:solidFill>
        <a:effectLst/>
      </p:bgPr>
    </p:bg>
    <p:spTree>
      <p:nvGrpSpPr>
        <p:cNvPr id="1" name=""/>
        <p:cNvGrpSpPr/>
        <p:nvPr/>
      </p:nvGrpSpPr>
      <p:grpSpPr>
        <a:xfrm>
          <a:off x="0" y="0"/>
          <a:ext cx="0" cy="0"/>
          <a:chOff x="0" y="0"/>
          <a:chExt cx="0" cy="0"/>
        </a:xfrm>
      </p:grpSpPr>
      <p:sp>
        <p:nvSpPr>
          <p:cNvPr id="2" name="Shape 0"/>
          <p:cNvSpPr/>
          <p:nvPr/>
        </p:nvSpPr>
        <p:spPr>
          <a:xfrm>
            <a:off x="640080" y="502920"/>
            <a:ext cx="777240" cy="777240"/>
          </a:xfrm>
          <a:prstGeom prst="ellipse">
            <a:avLst/>
          </a:prstGeom>
          <a:solidFill>
            <a:srgbClr val="0D9488"/>
          </a:solidFill>
          <a:ln/>
        </p:spPr>
        <p:txBody>
          <a:bodyPr/>
          <a:lstStyle/>
          <a:p>
            <a:endParaRPr lang="LID4096"/>
          </a:p>
        </p:txBody>
      </p:sp>
      <p:pic>
        <p:nvPicPr>
          <p:cNvPr id="3" name="Image 0" descr="preencoded.png"/>
          <p:cNvPicPr>
            <a:picLocks noChangeAspect="1"/>
          </p:cNvPicPr>
          <p:nvPr/>
        </p:nvPicPr>
        <p:blipFill>
          <a:blip r:embed="rId3"/>
          <a:stretch>
            <a:fillRect/>
          </a:stretch>
        </p:blipFill>
        <p:spPr>
          <a:xfrm>
            <a:off x="741121" y="603961"/>
            <a:ext cx="575158" cy="575158"/>
          </a:xfrm>
          <a:prstGeom prst="rect">
            <a:avLst/>
          </a:prstGeom>
        </p:spPr>
      </p:pic>
      <p:sp>
        <p:nvSpPr>
          <p:cNvPr id="4" name="Text 1"/>
          <p:cNvSpPr/>
          <p:nvPr/>
        </p:nvSpPr>
        <p:spPr>
          <a:xfrm>
            <a:off x="502920" y="1737360"/>
            <a:ext cx="8138160" cy="365760"/>
          </a:xfrm>
          <a:prstGeom prst="rect">
            <a:avLst/>
          </a:prstGeom>
          <a:noFill/>
          <a:ln/>
        </p:spPr>
        <p:txBody>
          <a:bodyPr wrap="square" lIns="0" tIns="0" rIns="0" bIns="0" rtlCol="0" anchor="ctr"/>
          <a:lstStyle/>
          <a:p>
            <a:pPr marL="0" indent="0">
              <a:buNone/>
            </a:pPr>
            <a:r>
              <a:rPr lang="en-US" sz="1500" b="1" kern="0" spc="200" dirty="0">
                <a:solidFill>
                  <a:srgbClr val="5EEAD4"/>
                </a:solidFill>
                <a:latin typeface="Calibri" pitchFamily="34" charset="0"/>
                <a:ea typeface="Calibri" pitchFamily="34" charset="-122"/>
                <a:cs typeface="Calibri" pitchFamily="34" charset="-120"/>
              </a:rPr>
              <a:t>KRONES VISION AI CHALLENGE  ·  GROUP 30</a:t>
            </a:r>
            <a:endParaRPr lang="en-US" sz="1500" dirty="0"/>
          </a:p>
        </p:txBody>
      </p:sp>
      <p:sp>
        <p:nvSpPr>
          <p:cNvPr id="5" name="Text 2"/>
          <p:cNvSpPr/>
          <p:nvPr/>
        </p:nvSpPr>
        <p:spPr>
          <a:xfrm>
            <a:off x="502920" y="2103120"/>
            <a:ext cx="8138160" cy="7772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VisionImpossible</a:t>
            </a:r>
            <a:endParaRPr lang="en-US" sz="3800" dirty="0"/>
          </a:p>
        </p:txBody>
      </p:sp>
      <p:sp>
        <p:nvSpPr>
          <p:cNvPr id="6" name="Text 3"/>
          <p:cNvSpPr/>
          <p:nvPr/>
        </p:nvSpPr>
        <p:spPr>
          <a:xfrm>
            <a:off x="502920" y="2933114"/>
            <a:ext cx="7498080" cy="548640"/>
          </a:xfrm>
          <a:prstGeom prst="rect">
            <a:avLst/>
          </a:prstGeom>
          <a:noFill/>
          <a:ln/>
        </p:spPr>
        <p:txBody>
          <a:bodyPr wrap="square" lIns="0" tIns="0" rIns="0" bIns="0" rtlCol="0" anchor="ctr"/>
          <a:lstStyle/>
          <a:p>
            <a:pPr marL="0" indent="0">
              <a:buNone/>
            </a:pPr>
            <a:r>
              <a:rPr lang="en-US" sz="1300" dirty="0">
                <a:solidFill>
                  <a:srgbClr val="B9C4CC"/>
                </a:solidFill>
                <a:latin typeface="Calibri" pitchFamily="34" charset="0"/>
                <a:ea typeface="Calibri" pitchFamily="34" charset="-122"/>
                <a:cs typeface="Calibri" pitchFamily="34" charset="-120"/>
              </a:rPr>
              <a:t>A binary image classifier for empty bottle reuse inspection - built on a EfficientNet-B3 using ROI and transfer-learning pipeline.</a:t>
            </a:r>
            <a:endParaRPr lang="en-US" sz="1300" dirty="0"/>
          </a:p>
        </p:txBody>
      </p:sp>
      <p:sp>
        <p:nvSpPr>
          <p:cNvPr id="7" name="Shape 4"/>
          <p:cNvSpPr/>
          <p:nvPr/>
        </p:nvSpPr>
        <p:spPr>
          <a:xfrm>
            <a:off x="502920" y="3794760"/>
            <a:ext cx="8138160" cy="9144"/>
          </a:xfrm>
          <a:prstGeom prst="rect">
            <a:avLst/>
          </a:prstGeom>
          <a:solidFill>
            <a:srgbClr val="44505A"/>
          </a:solidFill>
          <a:ln/>
        </p:spPr>
        <p:txBody>
          <a:bodyPr/>
          <a:lstStyle/>
          <a:p>
            <a:endParaRPr lang="LID4096"/>
          </a:p>
        </p:txBody>
      </p:sp>
      <p:sp>
        <p:nvSpPr>
          <p:cNvPr id="8" name="Text 5"/>
          <p:cNvSpPr/>
          <p:nvPr/>
        </p:nvSpPr>
        <p:spPr>
          <a:xfrm>
            <a:off x="502920" y="3977640"/>
            <a:ext cx="5486400" cy="365760"/>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Vannesa </a:t>
            </a:r>
            <a:r>
              <a:rPr lang="en-US" sz="1300" b="1" dirty="0" err="1">
                <a:solidFill>
                  <a:srgbClr val="FFFFFF"/>
                </a:solidFill>
                <a:latin typeface="Calibri" pitchFamily="34" charset="0"/>
                <a:ea typeface="Calibri" pitchFamily="34" charset="-122"/>
                <a:cs typeface="Calibri" pitchFamily="34" charset="-120"/>
              </a:rPr>
              <a:t>Hozanovic</a:t>
            </a:r>
            <a:r>
              <a:rPr lang="en-US" sz="1300" b="1" dirty="0">
                <a:solidFill>
                  <a:srgbClr val="FFFFFF"/>
                </a:solidFill>
                <a:latin typeface="Calibri" pitchFamily="34" charset="0"/>
                <a:ea typeface="Calibri" pitchFamily="34" charset="-122"/>
                <a:cs typeface="Calibri" pitchFamily="34" charset="-120"/>
              </a:rPr>
              <a:t> &amp; Jonathan Yung</a:t>
            </a:r>
            <a:endParaRPr lang="en-US" sz="1300" dirty="0"/>
          </a:p>
        </p:txBody>
      </p:sp>
      <p:sp>
        <p:nvSpPr>
          <p:cNvPr id="9" name="Text 6"/>
          <p:cNvSpPr/>
          <p:nvPr/>
        </p:nvSpPr>
        <p:spPr>
          <a:xfrm>
            <a:off x="5120640" y="3977640"/>
            <a:ext cx="3520440" cy="365760"/>
          </a:xfrm>
          <a:prstGeom prst="rect">
            <a:avLst/>
          </a:prstGeom>
          <a:noFill/>
          <a:ln/>
        </p:spPr>
        <p:txBody>
          <a:bodyPr wrap="square" lIns="0" tIns="0" rIns="0" bIns="0" rtlCol="0" anchor="ctr"/>
          <a:lstStyle/>
          <a:p>
            <a:pPr marL="0" indent="0" algn="r">
              <a:buNone/>
            </a:pPr>
            <a:r>
              <a:rPr lang="en-US" sz="1300" b="1" dirty="0">
                <a:solidFill>
                  <a:srgbClr val="5EEAD4"/>
                </a:solidFill>
                <a:latin typeface="Calibri" pitchFamily="34" charset="0"/>
                <a:ea typeface="Calibri" pitchFamily="34" charset="-122"/>
                <a:cs typeface="Calibri" pitchFamily="34" charset="-120"/>
              </a:rPr>
              <a:t>Final F1: 0.9671  ·  Private rank 15 / 40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0D9488"/>
                </a:solidFill>
                <a:latin typeface="Calibri" pitchFamily="34" charset="0"/>
                <a:ea typeface="Calibri" pitchFamily="34" charset="-122"/>
                <a:cs typeface="Calibri" pitchFamily="34" charset="-120"/>
              </a:rPr>
              <a:t>THE PROBLEM</a:t>
            </a:r>
            <a:endParaRPr lang="en-US" sz="1250" dirty="0"/>
          </a:p>
        </p:txBody>
      </p:sp>
      <p:sp>
        <p:nvSpPr>
          <p:cNvPr id="3" name="Text 1"/>
          <p:cNvSpPr/>
          <p:nvPr/>
        </p:nvSpPr>
        <p:spPr>
          <a:xfrm>
            <a:off x="502920" y="566928"/>
            <a:ext cx="8138160" cy="594360"/>
          </a:xfrm>
          <a:prstGeom prst="rect">
            <a:avLst/>
          </a:prstGeom>
          <a:noFill/>
          <a:ln/>
        </p:spPr>
        <p:txBody>
          <a:bodyPr wrap="square" lIns="0" tIns="0" rIns="0" bIns="0"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Reusable or Not — But the Boundary Is Subtle</a:t>
            </a:r>
            <a:endParaRPr lang="en-US" sz="2700" dirty="0"/>
          </a:p>
        </p:txBody>
      </p:sp>
      <p:sp>
        <p:nvSpPr>
          <p:cNvPr id="4" name="Text 2"/>
          <p:cNvSpPr/>
          <p:nvPr/>
        </p:nvSpPr>
        <p:spPr>
          <a:xfrm>
            <a:off x="502920" y="1280160"/>
            <a:ext cx="813816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Look at a bottle photo, decide reusable or not. The real difficulty is in classifying images that are in 26 different categories split into three different groups.</a:t>
            </a:r>
            <a:endParaRPr lang="en-US" sz="1300" dirty="0"/>
          </a:p>
        </p:txBody>
      </p:sp>
      <p:sp>
        <p:nvSpPr>
          <p:cNvPr id="5" name="Shape 3"/>
          <p:cNvSpPr/>
          <p:nvPr/>
        </p:nvSpPr>
        <p:spPr>
          <a:xfrm>
            <a:off x="502920" y="1965960"/>
            <a:ext cx="2606040" cy="2377440"/>
          </a:xfrm>
          <a:prstGeom prst="roundRect">
            <a:avLst>
              <a:gd name="adj" fmla="val 2692"/>
            </a:avLst>
          </a:prstGeom>
          <a:solidFill>
            <a:srgbClr val="F2F2F2"/>
          </a:solidFill>
          <a:ln/>
        </p:spPr>
        <p:txBody>
          <a:bodyPr/>
          <a:lstStyle/>
          <a:p>
            <a:endParaRPr lang="LID4096"/>
          </a:p>
        </p:txBody>
      </p:sp>
      <p:sp>
        <p:nvSpPr>
          <p:cNvPr id="6" name="Shape 4"/>
          <p:cNvSpPr/>
          <p:nvPr/>
        </p:nvSpPr>
        <p:spPr>
          <a:xfrm>
            <a:off x="685800" y="2167128"/>
            <a:ext cx="2240280" cy="73152"/>
          </a:xfrm>
          <a:prstGeom prst="roundRect">
            <a:avLst>
              <a:gd name="adj" fmla="val 50000"/>
            </a:avLst>
          </a:prstGeom>
          <a:solidFill>
            <a:srgbClr val="B3261E"/>
          </a:solidFill>
          <a:ln/>
        </p:spPr>
        <p:txBody>
          <a:bodyPr/>
          <a:lstStyle/>
          <a:p>
            <a:endParaRPr lang="LID4096"/>
          </a:p>
        </p:txBody>
      </p:sp>
      <p:sp>
        <p:nvSpPr>
          <p:cNvPr id="7" name="Text 5"/>
          <p:cNvSpPr/>
          <p:nvPr/>
        </p:nvSpPr>
        <p:spPr>
          <a:xfrm>
            <a:off x="685800" y="2350008"/>
            <a:ext cx="2240280" cy="640080"/>
          </a:xfrm>
          <a:prstGeom prst="rect">
            <a:avLst/>
          </a:prstGeom>
          <a:noFill/>
          <a:ln/>
        </p:spPr>
        <p:txBody>
          <a:bodyPr wrap="square" lIns="0" tIns="0" rIns="0" bIns="0" rtlCol="0" anchor="ctr"/>
          <a:lstStyle/>
          <a:p>
            <a:pPr marL="0" indent="0">
              <a:lnSpc>
                <a:spcPct val="105000"/>
              </a:lnSpc>
              <a:buNone/>
            </a:pPr>
            <a:r>
              <a:rPr lang="en-US" sz="1400" b="1" dirty="0">
                <a:solidFill>
                  <a:srgbClr val="263238"/>
                </a:solidFill>
                <a:latin typeface="Calibri" pitchFamily="34" charset="0"/>
                <a:ea typeface="Calibri" pitchFamily="34" charset="-122"/>
                <a:cs typeface="Calibri" pitchFamily="34" charset="-120"/>
              </a:rPr>
              <a:t>Faulty</a:t>
            </a:r>
            <a:endParaRPr lang="en-US" sz="1400" dirty="0"/>
          </a:p>
        </p:txBody>
      </p:sp>
      <p:sp>
        <p:nvSpPr>
          <p:cNvPr id="8" name="Text 6"/>
          <p:cNvSpPr/>
          <p:nvPr/>
        </p:nvSpPr>
        <p:spPr>
          <a:xfrm>
            <a:off x="685800" y="3017520"/>
            <a:ext cx="2240280" cy="118872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Crack, mold, insects, liquid residue, foreign objects…</a:t>
            </a:r>
            <a:endParaRPr lang="en-US" sz="1150" dirty="0"/>
          </a:p>
        </p:txBody>
      </p:sp>
      <p:sp>
        <p:nvSpPr>
          <p:cNvPr id="9" name="Shape 7"/>
          <p:cNvSpPr/>
          <p:nvPr/>
        </p:nvSpPr>
        <p:spPr>
          <a:xfrm>
            <a:off x="3291840" y="1965960"/>
            <a:ext cx="2606040" cy="2377440"/>
          </a:xfrm>
          <a:prstGeom prst="roundRect">
            <a:avLst>
              <a:gd name="adj" fmla="val 2692"/>
            </a:avLst>
          </a:prstGeom>
          <a:solidFill>
            <a:srgbClr val="F2F2F2"/>
          </a:solidFill>
          <a:ln/>
        </p:spPr>
        <p:txBody>
          <a:bodyPr/>
          <a:lstStyle/>
          <a:p>
            <a:endParaRPr lang="LID4096"/>
          </a:p>
        </p:txBody>
      </p:sp>
      <p:sp>
        <p:nvSpPr>
          <p:cNvPr id="10" name="Shape 8"/>
          <p:cNvSpPr/>
          <p:nvPr/>
        </p:nvSpPr>
        <p:spPr>
          <a:xfrm>
            <a:off x="3474720" y="2167128"/>
            <a:ext cx="2240280" cy="73152"/>
          </a:xfrm>
          <a:prstGeom prst="roundRect">
            <a:avLst>
              <a:gd name="adj" fmla="val 50000"/>
            </a:avLst>
          </a:prstGeom>
          <a:solidFill>
            <a:srgbClr val="B8860B"/>
          </a:solidFill>
          <a:ln/>
        </p:spPr>
        <p:txBody>
          <a:bodyPr/>
          <a:lstStyle/>
          <a:p>
            <a:endParaRPr lang="LID4096"/>
          </a:p>
        </p:txBody>
      </p:sp>
      <p:sp>
        <p:nvSpPr>
          <p:cNvPr id="11" name="Text 9"/>
          <p:cNvSpPr/>
          <p:nvPr/>
        </p:nvSpPr>
        <p:spPr>
          <a:xfrm>
            <a:off x="3474720" y="2350008"/>
            <a:ext cx="2240280" cy="640080"/>
          </a:xfrm>
          <a:prstGeom prst="rect">
            <a:avLst/>
          </a:prstGeom>
          <a:noFill/>
          <a:ln/>
        </p:spPr>
        <p:txBody>
          <a:bodyPr wrap="square" lIns="0" tIns="0" rIns="0" bIns="0" rtlCol="0" anchor="ctr"/>
          <a:lstStyle/>
          <a:p>
            <a:pPr marL="0" indent="0">
              <a:lnSpc>
                <a:spcPct val="105000"/>
              </a:lnSpc>
              <a:buNone/>
            </a:pPr>
            <a:r>
              <a:rPr lang="en-US" sz="1400" b="1" dirty="0">
                <a:solidFill>
                  <a:srgbClr val="263238"/>
                </a:solidFill>
                <a:latin typeface="Calibri" pitchFamily="34" charset="0"/>
                <a:ea typeface="Calibri" pitchFamily="34" charset="-122"/>
                <a:cs typeface="Calibri" pitchFamily="34" charset="-120"/>
              </a:rPr>
              <a:t>Conditionally Faulty</a:t>
            </a:r>
            <a:endParaRPr lang="en-US" sz="1400" dirty="0"/>
          </a:p>
        </p:txBody>
      </p:sp>
      <p:sp>
        <p:nvSpPr>
          <p:cNvPr id="12" name="Text 10"/>
          <p:cNvSpPr/>
          <p:nvPr/>
        </p:nvSpPr>
        <p:spPr>
          <a:xfrm>
            <a:off x="3474720" y="3017520"/>
            <a:ext cx="2240280" cy="118872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Air bubbles, chips, scuffing… - small ones are acceptable, large ones aren't</a:t>
            </a:r>
            <a:endParaRPr lang="en-US" sz="1150" dirty="0"/>
          </a:p>
        </p:txBody>
      </p:sp>
      <p:sp>
        <p:nvSpPr>
          <p:cNvPr id="13" name="Shape 11"/>
          <p:cNvSpPr/>
          <p:nvPr/>
        </p:nvSpPr>
        <p:spPr>
          <a:xfrm>
            <a:off x="6080760" y="1965960"/>
            <a:ext cx="2606040" cy="2377440"/>
          </a:xfrm>
          <a:prstGeom prst="roundRect">
            <a:avLst>
              <a:gd name="adj" fmla="val 2692"/>
            </a:avLst>
          </a:prstGeom>
          <a:solidFill>
            <a:srgbClr val="F2F2F2"/>
          </a:solidFill>
          <a:ln/>
        </p:spPr>
        <p:txBody>
          <a:bodyPr/>
          <a:lstStyle/>
          <a:p>
            <a:endParaRPr lang="LID4096"/>
          </a:p>
        </p:txBody>
      </p:sp>
      <p:sp>
        <p:nvSpPr>
          <p:cNvPr id="14" name="Shape 12"/>
          <p:cNvSpPr/>
          <p:nvPr/>
        </p:nvSpPr>
        <p:spPr>
          <a:xfrm>
            <a:off x="6263640" y="2167128"/>
            <a:ext cx="2240280" cy="73152"/>
          </a:xfrm>
          <a:prstGeom prst="roundRect">
            <a:avLst>
              <a:gd name="adj" fmla="val 50000"/>
            </a:avLst>
          </a:prstGeom>
          <a:solidFill>
            <a:srgbClr val="0D9488"/>
          </a:solidFill>
          <a:ln/>
        </p:spPr>
        <p:txBody>
          <a:bodyPr/>
          <a:lstStyle/>
          <a:p>
            <a:endParaRPr lang="LID4096"/>
          </a:p>
        </p:txBody>
      </p:sp>
      <p:sp>
        <p:nvSpPr>
          <p:cNvPr id="15" name="Text 13"/>
          <p:cNvSpPr/>
          <p:nvPr/>
        </p:nvSpPr>
        <p:spPr>
          <a:xfrm>
            <a:off x="6263640" y="2350008"/>
            <a:ext cx="2240280" cy="640080"/>
          </a:xfrm>
          <a:prstGeom prst="rect">
            <a:avLst/>
          </a:prstGeom>
          <a:noFill/>
          <a:ln/>
        </p:spPr>
        <p:txBody>
          <a:bodyPr wrap="square" lIns="0" tIns="0" rIns="0" bIns="0" rtlCol="0" anchor="ctr"/>
          <a:lstStyle/>
          <a:p>
            <a:pPr marL="0" indent="0">
              <a:lnSpc>
                <a:spcPct val="105000"/>
              </a:lnSpc>
              <a:buNone/>
            </a:pPr>
            <a:r>
              <a:rPr lang="en-US" sz="1400" b="1" dirty="0">
                <a:solidFill>
                  <a:srgbClr val="263238"/>
                </a:solidFill>
                <a:latin typeface="Calibri" pitchFamily="34" charset="0"/>
                <a:ea typeface="Calibri" pitchFamily="34" charset="-122"/>
                <a:cs typeface="Calibri" pitchFamily="34" charset="-120"/>
              </a:rPr>
              <a:t>Good</a:t>
            </a:r>
            <a:endParaRPr lang="en-US" sz="1400" dirty="0"/>
          </a:p>
        </p:txBody>
      </p:sp>
      <p:sp>
        <p:nvSpPr>
          <p:cNvPr id="16" name="Text 14"/>
          <p:cNvSpPr/>
          <p:nvPr/>
        </p:nvSpPr>
        <p:spPr>
          <a:xfrm>
            <a:off x="6263640" y="3017520"/>
            <a:ext cx="2240280" cy="118872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Water drops, foam residue, embossing… - harmless, so ignore</a:t>
            </a:r>
            <a:endParaRPr lang="en-US" sz="1150" dirty="0"/>
          </a:p>
        </p:txBody>
      </p:sp>
      <p:sp>
        <p:nvSpPr>
          <p:cNvPr id="17" name="Text 15"/>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0D9488"/>
                </a:solidFill>
                <a:latin typeface="Calibri" pitchFamily="34" charset="0"/>
                <a:ea typeface="Calibri" pitchFamily="34" charset="-122"/>
                <a:cs typeface="Calibri" pitchFamily="34" charset="-120"/>
              </a:rPr>
              <a:t>DATASET &amp; EDA</a:t>
            </a:r>
            <a:endParaRPr lang="en-US" sz="1250" dirty="0"/>
          </a:p>
        </p:txBody>
      </p:sp>
      <p:sp>
        <p:nvSpPr>
          <p:cNvPr id="3" name="Text 1"/>
          <p:cNvSpPr/>
          <p:nvPr/>
        </p:nvSpPr>
        <p:spPr>
          <a:xfrm>
            <a:off x="502920" y="682665"/>
            <a:ext cx="8138160" cy="594360"/>
          </a:xfrm>
          <a:prstGeom prst="rect">
            <a:avLst/>
          </a:prstGeom>
          <a:noFill/>
          <a:ln/>
        </p:spPr>
        <p:txBody>
          <a:bodyPr wrap="square" lIns="0" tIns="0" rIns="0" bIns="0"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We Built Our Approach on the Organizers' Hints</a:t>
            </a:r>
            <a:endParaRPr lang="en-US" sz="2700" dirty="0"/>
          </a:p>
        </p:txBody>
      </p:sp>
      <p:sp>
        <p:nvSpPr>
          <p:cNvPr id="4" name="Shape 2"/>
          <p:cNvSpPr/>
          <p:nvPr/>
        </p:nvSpPr>
        <p:spPr>
          <a:xfrm>
            <a:off x="580292" y="1392762"/>
            <a:ext cx="3428999" cy="1835773"/>
          </a:xfrm>
          <a:prstGeom prst="roundRect">
            <a:avLst>
              <a:gd name="adj" fmla="val 2000"/>
            </a:avLst>
          </a:prstGeom>
          <a:solidFill>
            <a:srgbClr val="F2F2F2"/>
          </a:solidFill>
          <a:ln/>
        </p:spPr>
        <p:txBody>
          <a:bodyPr/>
          <a:lstStyle/>
          <a:p>
            <a:endParaRPr lang="LID4096"/>
          </a:p>
        </p:txBody>
      </p:sp>
      <p:sp>
        <p:nvSpPr>
          <p:cNvPr id="5" name="Shape 3"/>
          <p:cNvSpPr/>
          <p:nvPr/>
        </p:nvSpPr>
        <p:spPr>
          <a:xfrm>
            <a:off x="790605" y="1453754"/>
            <a:ext cx="398721" cy="379314"/>
          </a:xfrm>
          <a:prstGeom prst="ellipse">
            <a:avLst/>
          </a:prstGeom>
          <a:solidFill>
            <a:srgbClr val="0D9488"/>
          </a:solidFill>
          <a:ln/>
        </p:spPr>
        <p:txBody>
          <a:bodyPr/>
          <a:lstStyle/>
          <a:p>
            <a:endParaRPr lang="LID4096"/>
          </a:p>
        </p:txBody>
      </p:sp>
      <p:pic>
        <p:nvPicPr>
          <p:cNvPr id="6" name="Image 0" descr="preencoded.png"/>
          <p:cNvPicPr>
            <a:picLocks noChangeAspect="1"/>
          </p:cNvPicPr>
          <p:nvPr/>
        </p:nvPicPr>
        <p:blipFill>
          <a:blip r:embed="rId3"/>
          <a:stretch>
            <a:fillRect/>
          </a:stretch>
        </p:blipFill>
        <p:spPr>
          <a:xfrm>
            <a:off x="850040" y="1496598"/>
            <a:ext cx="300619" cy="308973"/>
          </a:xfrm>
          <a:prstGeom prst="rect">
            <a:avLst/>
          </a:prstGeom>
        </p:spPr>
      </p:pic>
      <p:sp>
        <p:nvSpPr>
          <p:cNvPr id="7" name="Text 4"/>
          <p:cNvSpPr/>
          <p:nvPr/>
        </p:nvSpPr>
        <p:spPr>
          <a:xfrm>
            <a:off x="1403253" y="1499274"/>
            <a:ext cx="2551812" cy="227588"/>
          </a:xfrm>
          <a:prstGeom prst="rect">
            <a:avLst/>
          </a:prstGeom>
          <a:noFill/>
          <a:ln/>
        </p:spPr>
        <p:txBody>
          <a:bodyPr wrap="square" lIns="0" tIns="0" rIns="0" bIns="0" rtlCol="0" anchor="ctr"/>
          <a:lstStyle/>
          <a:p>
            <a:pPr marL="0" indent="0">
              <a:buNone/>
            </a:pPr>
            <a:r>
              <a:rPr lang="en-US" sz="1050" b="1" kern="0" spc="100" dirty="0">
                <a:solidFill>
                  <a:srgbClr val="0D9488"/>
                </a:solidFill>
                <a:latin typeface="Calibri" pitchFamily="34" charset="0"/>
                <a:ea typeface="Calibri" pitchFamily="34" charset="-122"/>
                <a:cs typeface="Calibri" pitchFamily="34" charset="-120"/>
              </a:rPr>
              <a:t>Organizer hint</a:t>
            </a:r>
            <a:endParaRPr lang="en-US" sz="1050" dirty="0"/>
          </a:p>
        </p:txBody>
      </p:sp>
      <p:sp>
        <p:nvSpPr>
          <p:cNvPr id="8" name="Text 5"/>
          <p:cNvSpPr/>
          <p:nvPr/>
        </p:nvSpPr>
        <p:spPr>
          <a:xfrm>
            <a:off x="808893" y="1677111"/>
            <a:ext cx="3030278" cy="758629"/>
          </a:xfrm>
          <a:prstGeom prst="rect">
            <a:avLst/>
          </a:prstGeom>
          <a:noFill/>
          <a:ln/>
        </p:spPr>
        <p:txBody>
          <a:bodyPr wrap="square" lIns="0" tIns="0" rIns="0" bIns="0" rtlCol="0" anchor="ctr"/>
          <a:lstStyle/>
          <a:p>
            <a:pPr marL="0" indent="0">
              <a:lnSpc>
                <a:spcPct val="110000"/>
              </a:lnSpc>
              <a:buNone/>
            </a:pPr>
            <a:r>
              <a:rPr lang="en-US" sz="1300" b="1" i="1" dirty="0">
                <a:solidFill>
                  <a:srgbClr val="263238"/>
                </a:solidFill>
                <a:latin typeface="Cambria" pitchFamily="34" charset="0"/>
                <a:ea typeface="Cambria" pitchFamily="34" charset="-122"/>
                <a:cs typeface="Cambria" pitchFamily="34" charset="-120"/>
              </a:rPr>
              <a:t>“Most ROIs are close to 512×512 px.”</a:t>
            </a:r>
            <a:endParaRPr lang="en-US" sz="1300" dirty="0"/>
          </a:p>
        </p:txBody>
      </p:sp>
      <p:sp>
        <p:nvSpPr>
          <p:cNvPr id="9" name="Text 6"/>
          <p:cNvSpPr/>
          <p:nvPr/>
        </p:nvSpPr>
        <p:spPr>
          <a:xfrm>
            <a:off x="808893" y="2250768"/>
            <a:ext cx="3030278" cy="1100012"/>
          </a:xfrm>
          <a:prstGeom prst="rect">
            <a:avLst/>
          </a:prstGeom>
          <a:noFill/>
          <a:ln/>
        </p:spPr>
        <p:txBody>
          <a:bodyPr wrap="square" lIns="0" tIns="0" rIns="0" bIns="0" rtlCol="0" anchor="ctr"/>
          <a:lstStyle/>
          <a:p>
            <a:pPr marL="0" indent="0">
              <a:lnSpc>
                <a:spcPct val="112000"/>
              </a:lnSpc>
              <a:buNone/>
            </a:pPr>
            <a:r>
              <a:rPr lang="en-US" sz="1150" dirty="0">
                <a:solidFill>
                  <a:srgbClr val="64748B"/>
                </a:solidFill>
                <a:latin typeface="Calibri" pitchFamily="34" charset="0"/>
                <a:ea typeface="Calibri" pitchFamily="34" charset="-122"/>
                <a:cs typeface="Calibri" pitchFamily="34" charset="-120"/>
              </a:rPr>
              <a:t>Cropping to ROI and resizing to 512×512 loses almost no information. We kept that exact size throughout the training and inference.</a:t>
            </a:r>
            <a:endParaRPr lang="en-US" sz="1150" dirty="0"/>
          </a:p>
        </p:txBody>
      </p:sp>
      <p:sp>
        <p:nvSpPr>
          <p:cNvPr id="10" name="Shape 7"/>
          <p:cNvSpPr/>
          <p:nvPr/>
        </p:nvSpPr>
        <p:spPr>
          <a:xfrm>
            <a:off x="4786532" y="1392762"/>
            <a:ext cx="3428999" cy="1835773"/>
          </a:xfrm>
          <a:prstGeom prst="roundRect">
            <a:avLst>
              <a:gd name="adj" fmla="val 2000"/>
            </a:avLst>
          </a:prstGeom>
          <a:solidFill>
            <a:srgbClr val="F2F2F2"/>
          </a:solidFill>
          <a:ln/>
        </p:spPr>
        <p:txBody>
          <a:bodyPr/>
          <a:lstStyle/>
          <a:p>
            <a:endParaRPr lang="LID4096"/>
          </a:p>
        </p:txBody>
      </p:sp>
      <p:sp>
        <p:nvSpPr>
          <p:cNvPr id="11" name="Shape 8"/>
          <p:cNvSpPr/>
          <p:nvPr/>
        </p:nvSpPr>
        <p:spPr>
          <a:xfrm>
            <a:off x="4996845" y="1453754"/>
            <a:ext cx="398721" cy="379314"/>
          </a:xfrm>
          <a:prstGeom prst="ellipse">
            <a:avLst/>
          </a:prstGeom>
          <a:solidFill>
            <a:srgbClr val="0D9488"/>
          </a:solidFill>
          <a:ln/>
        </p:spPr>
        <p:txBody>
          <a:bodyPr/>
          <a:lstStyle/>
          <a:p>
            <a:endParaRPr lang="LID4096"/>
          </a:p>
        </p:txBody>
      </p:sp>
      <p:pic>
        <p:nvPicPr>
          <p:cNvPr id="12" name="Image 1" descr="preencoded.png"/>
          <p:cNvPicPr>
            <a:picLocks noChangeAspect="1"/>
          </p:cNvPicPr>
          <p:nvPr/>
        </p:nvPicPr>
        <p:blipFill>
          <a:blip r:embed="rId4"/>
          <a:stretch>
            <a:fillRect/>
          </a:stretch>
        </p:blipFill>
        <p:spPr>
          <a:xfrm>
            <a:off x="5056280" y="1496598"/>
            <a:ext cx="300619" cy="308973"/>
          </a:xfrm>
          <a:prstGeom prst="rect">
            <a:avLst/>
          </a:prstGeom>
        </p:spPr>
      </p:pic>
      <p:sp>
        <p:nvSpPr>
          <p:cNvPr id="13" name="Text 9"/>
          <p:cNvSpPr/>
          <p:nvPr/>
        </p:nvSpPr>
        <p:spPr>
          <a:xfrm>
            <a:off x="5609493" y="1499274"/>
            <a:ext cx="2551812" cy="227588"/>
          </a:xfrm>
          <a:prstGeom prst="rect">
            <a:avLst/>
          </a:prstGeom>
          <a:noFill/>
          <a:ln/>
        </p:spPr>
        <p:txBody>
          <a:bodyPr wrap="square" lIns="0" tIns="0" rIns="0" bIns="0" rtlCol="0" anchor="ctr"/>
          <a:lstStyle/>
          <a:p>
            <a:pPr marL="0" indent="0">
              <a:buNone/>
            </a:pPr>
            <a:r>
              <a:rPr lang="en-US" sz="1050" b="1" kern="0" spc="100" dirty="0">
                <a:solidFill>
                  <a:srgbClr val="0D9488"/>
                </a:solidFill>
                <a:latin typeface="Calibri" pitchFamily="34" charset="0"/>
                <a:ea typeface="Calibri" pitchFamily="34" charset="-122"/>
                <a:cs typeface="Calibri" pitchFamily="34" charset="-120"/>
              </a:rPr>
              <a:t>Organizer hint</a:t>
            </a:r>
            <a:endParaRPr lang="en-US" sz="1050" dirty="0"/>
          </a:p>
        </p:txBody>
      </p:sp>
      <p:sp>
        <p:nvSpPr>
          <p:cNvPr id="14" name="Text 10"/>
          <p:cNvSpPr/>
          <p:nvPr/>
        </p:nvSpPr>
        <p:spPr>
          <a:xfrm>
            <a:off x="4985892" y="1818788"/>
            <a:ext cx="3030278" cy="758629"/>
          </a:xfrm>
          <a:prstGeom prst="rect">
            <a:avLst/>
          </a:prstGeom>
          <a:noFill/>
          <a:ln/>
        </p:spPr>
        <p:txBody>
          <a:bodyPr wrap="square" lIns="0" tIns="0" rIns="0" bIns="0" rtlCol="0" anchor="ctr"/>
          <a:lstStyle/>
          <a:p>
            <a:pPr marL="0" indent="0">
              <a:lnSpc>
                <a:spcPct val="110000"/>
              </a:lnSpc>
              <a:buNone/>
            </a:pPr>
            <a:r>
              <a:rPr lang="en-US" sz="1300" b="1" i="1" dirty="0">
                <a:solidFill>
                  <a:srgbClr val="263238"/>
                </a:solidFill>
                <a:latin typeface="Cambria" pitchFamily="34" charset="0"/>
                <a:ea typeface="Cambria" pitchFamily="34" charset="-122"/>
                <a:cs typeface="Cambria" pitchFamily="34" charset="-120"/>
              </a:rPr>
              <a:t>“Bottle bases often have rotational symmetry.”</a:t>
            </a:r>
            <a:endParaRPr lang="en-US" sz="1300" dirty="0"/>
          </a:p>
        </p:txBody>
      </p:sp>
      <p:sp>
        <p:nvSpPr>
          <p:cNvPr id="15" name="Text 11"/>
          <p:cNvSpPr/>
          <p:nvPr/>
        </p:nvSpPr>
        <p:spPr>
          <a:xfrm>
            <a:off x="4996845" y="2165358"/>
            <a:ext cx="3030278" cy="1100012"/>
          </a:xfrm>
          <a:prstGeom prst="rect">
            <a:avLst/>
          </a:prstGeom>
          <a:noFill/>
          <a:ln/>
        </p:spPr>
        <p:txBody>
          <a:bodyPr wrap="square" lIns="0" tIns="0" rIns="0" bIns="0" rtlCol="0" anchor="ctr"/>
          <a:lstStyle/>
          <a:p>
            <a:pPr marL="0" indent="0">
              <a:lnSpc>
                <a:spcPct val="112000"/>
              </a:lnSpc>
              <a:buNone/>
            </a:pPr>
            <a:r>
              <a:rPr lang="en-US" sz="1150" dirty="0">
                <a:solidFill>
                  <a:srgbClr val="64748B"/>
                </a:solidFill>
                <a:latin typeface="Calibri" pitchFamily="34" charset="0"/>
                <a:ea typeface="Calibri" pitchFamily="34" charset="-122"/>
                <a:cs typeface="Calibri" pitchFamily="34" charset="-120"/>
              </a:rPr>
              <a:t>The base looks identical from any rotation angle, This led to which augmentations we chose to use.</a:t>
            </a:r>
            <a:endParaRPr lang="en-US" sz="1150" dirty="0"/>
          </a:p>
        </p:txBody>
      </p:sp>
      <p:sp>
        <p:nvSpPr>
          <p:cNvPr id="16" name="Text 12"/>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pic>
        <p:nvPicPr>
          <p:cNvPr id="20" name="Picture 19">
            <a:extLst>
              <a:ext uri="{FF2B5EF4-FFF2-40B4-BE49-F238E27FC236}">
                <a16:creationId xmlns:a16="http://schemas.microsoft.com/office/drawing/2014/main" id="{A112B558-93C8-429E-14F5-D95B3BA338BB}"/>
              </a:ext>
            </a:extLst>
          </p:cNvPr>
          <p:cNvPicPr>
            <a:picLocks noChangeAspect="1"/>
          </p:cNvPicPr>
          <p:nvPr/>
        </p:nvPicPr>
        <p:blipFill>
          <a:blip r:embed="rId5"/>
          <a:stretch>
            <a:fillRect/>
          </a:stretch>
        </p:blipFill>
        <p:spPr>
          <a:xfrm>
            <a:off x="2324032" y="3335047"/>
            <a:ext cx="4661654" cy="16959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0D9488"/>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502920" y="548640"/>
            <a:ext cx="8138160" cy="594360"/>
          </a:xfrm>
          <a:prstGeom prst="rect">
            <a:avLst/>
          </a:prstGeom>
          <a:noFill/>
          <a:ln/>
        </p:spPr>
        <p:txBody>
          <a:bodyPr wrap="square" lIns="0" tIns="0" rIns="0" bIns="0" rtlCol="0" anchor="ctr"/>
          <a:lstStyle/>
          <a:p>
            <a:pPr marL="0" indent="0">
              <a:buNone/>
            </a:pPr>
            <a:r>
              <a:rPr lang="en-US" sz="2500" b="1" dirty="0">
                <a:solidFill>
                  <a:srgbClr val="263238"/>
                </a:solidFill>
                <a:latin typeface="Cambria" pitchFamily="34" charset="0"/>
                <a:ea typeface="Cambria" pitchFamily="34" charset="-122"/>
                <a:cs typeface="Cambria" pitchFamily="34" charset="-120"/>
              </a:rPr>
              <a:t>Pipeline Overview - From Raw Image to Final Decision</a:t>
            </a:r>
            <a:endParaRPr lang="en-US" sz="2500" dirty="0"/>
          </a:p>
        </p:txBody>
      </p:sp>
      <p:sp>
        <p:nvSpPr>
          <p:cNvPr id="4" name="Text 2"/>
          <p:cNvSpPr/>
          <p:nvPr/>
        </p:nvSpPr>
        <p:spPr>
          <a:xfrm>
            <a:off x="502920" y="1078992"/>
            <a:ext cx="813816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Row 1: preprocessing  →  Row 2: through the EfficientNet-B3 network  →  Final decision</a:t>
            </a:r>
            <a:endParaRPr lang="en-US" sz="1100" dirty="0"/>
          </a:p>
        </p:txBody>
      </p:sp>
      <p:sp>
        <p:nvSpPr>
          <p:cNvPr id="5" name="Shape 3"/>
          <p:cNvSpPr/>
          <p:nvPr/>
        </p:nvSpPr>
        <p:spPr>
          <a:xfrm>
            <a:off x="502920" y="1481328"/>
            <a:ext cx="1938528" cy="841248"/>
          </a:xfrm>
          <a:prstGeom prst="roundRect">
            <a:avLst>
              <a:gd name="adj" fmla="val 6522"/>
            </a:avLst>
          </a:prstGeom>
          <a:solidFill>
            <a:srgbClr val="F2F2F2"/>
          </a:solidFill>
          <a:ln/>
          <a:effectLst>
            <a:outerShdw blurRad="50800" dist="12700" dir="5400000" algn="bl" rotWithShape="0">
              <a:srgbClr val="000000">
                <a:alpha val="8000"/>
              </a:srgbClr>
            </a:outerShdw>
          </a:effectLst>
        </p:spPr>
        <p:txBody>
          <a:bodyPr/>
          <a:lstStyle/>
          <a:p>
            <a:endParaRPr lang="LID4096"/>
          </a:p>
        </p:txBody>
      </p:sp>
      <p:sp>
        <p:nvSpPr>
          <p:cNvPr id="6" name="Text 4"/>
          <p:cNvSpPr/>
          <p:nvPr/>
        </p:nvSpPr>
        <p:spPr>
          <a:xfrm>
            <a:off x="557784" y="155448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Load Image</a:t>
            </a:r>
            <a:endParaRPr lang="en-US" sz="1050" dirty="0"/>
          </a:p>
        </p:txBody>
      </p:sp>
      <p:sp>
        <p:nvSpPr>
          <p:cNvPr id="7" name="Text 5"/>
          <p:cNvSpPr/>
          <p:nvPr/>
        </p:nvSpPr>
        <p:spPr>
          <a:xfrm>
            <a:off x="557784" y="1847088"/>
            <a:ext cx="1828800" cy="429768"/>
          </a:xfrm>
          <a:prstGeom prst="rect">
            <a:avLst/>
          </a:prstGeom>
          <a:noFill/>
          <a:ln/>
        </p:spPr>
        <p:txBody>
          <a:bodyPr wrap="square" lIns="0" tIns="0" rIns="0" bIns="0" rtlCol="0" anchor="t"/>
          <a:lstStyle/>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Read .png from disk</a:t>
            </a:r>
            <a:endParaRPr lang="en-US" sz="830" dirty="0"/>
          </a:p>
        </p:txBody>
      </p:sp>
      <p:sp>
        <p:nvSpPr>
          <p:cNvPr id="8" name="Text 6"/>
          <p:cNvSpPr/>
          <p:nvPr/>
        </p:nvSpPr>
        <p:spPr>
          <a:xfrm>
            <a:off x="2441448" y="1481328"/>
            <a:ext cx="128016" cy="841248"/>
          </a:xfrm>
          <a:prstGeom prst="rect">
            <a:avLst/>
          </a:prstGeom>
          <a:noFill/>
          <a:ln/>
        </p:spPr>
        <p:txBody>
          <a:bodyPr wrap="square" lIns="0" tIns="0" rIns="0" bIns="0" rtlCol="0" anchor="ctr"/>
          <a:lstStyle/>
          <a:p>
            <a:pPr marL="0" indent="0" algn="ctr">
              <a:buNone/>
            </a:pPr>
            <a:r>
              <a:rPr lang="en-US" sz="2000" b="1" dirty="0">
                <a:solidFill>
                  <a:srgbClr val="0D9488"/>
                </a:solidFill>
              </a:rPr>
              <a:t>›</a:t>
            </a:r>
            <a:endParaRPr lang="en-US" sz="2000" dirty="0"/>
          </a:p>
        </p:txBody>
      </p:sp>
      <p:sp>
        <p:nvSpPr>
          <p:cNvPr id="9" name="Shape 7"/>
          <p:cNvSpPr/>
          <p:nvPr/>
        </p:nvSpPr>
        <p:spPr>
          <a:xfrm>
            <a:off x="2569464" y="1481328"/>
            <a:ext cx="1938528" cy="841248"/>
          </a:xfrm>
          <a:prstGeom prst="roundRect">
            <a:avLst>
              <a:gd name="adj" fmla="val 6522"/>
            </a:avLst>
          </a:prstGeom>
          <a:solidFill>
            <a:srgbClr val="F2F2F2"/>
          </a:solidFill>
          <a:ln/>
          <a:effectLst>
            <a:outerShdw blurRad="50800" dist="12700" dir="5400000" algn="bl" rotWithShape="0">
              <a:srgbClr val="000000">
                <a:alpha val="8000"/>
              </a:srgbClr>
            </a:outerShdw>
          </a:effectLst>
        </p:spPr>
        <p:txBody>
          <a:bodyPr/>
          <a:lstStyle/>
          <a:p>
            <a:endParaRPr lang="LID4096"/>
          </a:p>
        </p:txBody>
      </p:sp>
      <p:sp>
        <p:nvSpPr>
          <p:cNvPr id="10" name="Text 8"/>
          <p:cNvSpPr/>
          <p:nvPr/>
        </p:nvSpPr>
        <p:spPr>
          <a:xfrm>
            <a:off x="2624328" y="155448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Crop to ROI</a:t>
            </a:r>
            <a:endParaRPr lang="en-US" sz="1050" dirty="0"/>
          </a:p>
        </p:txBody>
      </p:sp>
      <p:sp>
        <p:nvSpPr>
          <p:cNvPr id="11" name="Text 9"/>
          <p:cNvSpPr/>
          <p:nvPr/>
        </p:nvSpPr>
        <p:spPr>
          <a:xfrm>
            <a:off x="2624328" y="1847088"/>
            <a:ext cx="1828800" cy="429768"/>
          </a:xfrm>
          <a:prstGeom prst="rect">
            <a:avLst/>
          </a:prstGeom>
          <a:noFill/>
          <a:ln/>
        </p:spPr>
        <p:txBody>
          <a:bodyPr wrap="square" lIns="0" tIns="0" rIns="0" bIns="0" rtlCol="0" anchor="t"/>
          <a:lstStyle/>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(x, y, w, h) box from</a:t>
            </a:r>
            <a:endParaRPr lang="en-US" sz="830" dirty="0"/>
          </a:p>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COCO annotations</a:t>
            </a:r>
            <a:endParaRPr lang="en-US" sz="830" dirty="0"/>
          </a:p>
        </p:txBody>
      </p:sp>
      <p:sp>
        <p:nvSpPr>
          <p:cNvPr id="12" name="Text 10"/>
          <p:cNvSpPr/>
          <p:nvPr/>
        </p:nvSpPr>
        <p:spPr>
          <a:xfrm>
            <a:off x="4507992" y="1481328"/>
            <a:ext cx="128016" cy="841248"/>
          </a:xfrm>
          <a:prstGeom prst="rect">
            <a:avLst/>
          </a:prstGeom>
          <a:noFill/>
          <a:ln/>
        </p:spPr>
        <p:txBody>
          <a:bodyPr wrap="square" lIns="0" tIns="0" rIns="0" bIns="0" rtlCol="0" anchor="ctr"/>
          <a:lstStyle/>
          <a:p>
            <a:pPr marL="0" indent="0" algn="ctr">
              <a:buNone/>
            </a:pPr>
            <a:r>
              <a:rPr lang="en-US" sz="2000" b="1" dirty="0">
                <a:solidFill>
                  <a:srgbClr val="0D9488"/>
                </a:solidFill>
              </a:rPr>
              <a:t>›</a:t>
            </a:r>
            <a:endParaRPr lang="en-US" sz="2000" dirty="0"/>
          </a:p>
        </p:txBody>
      </p:sp>
      <p:sp>
        <p:nvSpPr>
          <p:cNvPr id="13" name="Shape 11"/>
          <p:cNvSpPr/>
          <p:nvPr/>
        </p:nvSpPr>
        <p:spPr>
          <a:xfrm>
            <a:off x="4636008" y="1481328"/>
            <a:ext cx="1938528" cy="841248"/>
          </a:xfrm>
          <a:prstGeom prst="roundRect">
            <a:avLst>
              <a:gd name="adj" fmla="val 6522"/>
            </a:avLst>
          </a:prstGeom>
          <a:solidFill>
            <a:srgbClr val="F2F2F2"/>
          </a:solidFill>
          <a:ln/>
          <a:effectLst>
            <a:outerShdw blurRad="50800" dist="12700" dir="5400000" algn="bl" rotWithShape="0">
              <a:srgbClr val="000000">
                <a:alpha val="8000"/>
              </a:srgbClr>
            </a:outerShdw>
          </a:effectLst>
        </p:spPr>
        <p:txBody>
          <a:bodyPr/>
          <a:lstStyle/>
          <a:p>
            <a:endParaRPr lang="LID4096"/>
          </a:p>
        </p:txBody>
      </p:sp>
      <p:sp>
        <p:nvSpPr>
          <p:cNvPr id="14" name="Text 12"/>
          <p:cNvSpPr/>
          <p:nvPr/>
        </p:nvSpPr>
        <p:spPr>
          <a:xfrm>
            <a:off x="4690872" y="155448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Resize 512×512</a:t>
            </a:r>
            <a:endParaRPr lang="en-US" sz="1050" dirty="0"/>
          </a:p>
        </p:txBody>
      </p:sp>
      <p:sp>
        <p:nvSpPr>
          <p:cNvPr id="15" name="Text 13"/>
          <p:cNvSpPr/>
          <p:nvPr/>
        </p:nvSpPr>
        <p:spPr>
          <a:xfrm>
            <a:off x="4690872" y="1847088"/>
            <a:ext cx="1828800" cy="429768"/>
          </a:xfrm>
          <a:prstGeom prst="rect">
            <a:avLst/>
          </a:prstGeom>
          <a:noFill/>
          <a:ln/>
        </p:spPr>
        <p:txBody>
          <a:bodyPr wrap="square" lIns="0" tIns="0" rIns="0" bIns="0" rtlCol="0" anchor="t"/>
          <a:lstStyle/>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ROI is already ~512px</a:t>
            </a:r>
            <a:endParaRPr lang="en-US" sz="830" dirty="0"/>
          </a:p>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so only minimal changes</a:t>
            </a:r>
            <a:endParaRPr lang="en-US" sz="830" dirty="0"/>
          </a:p>
        </p:txBody>
      </p:sp>
      <p:sp>
        <p:nvSpPr>
          <p:cNvPr id="16" name="Text 14"/>
          <p:cNvSpPr/>
          <p:nvPr/>
        </p:nvSpPr>
        <p:spPr>
          <a:xfrm>
            <a:off x="6574536" y="1481328"/>
            <a:ext cx="128016" cy="841248"/>
          </a:xfrm>
          <a:prstGeom prst="rect">
            <a:avLst/>
          </a:prstGeom>
          <a:noFill/>
          <a:ln/>
        </p:spPr>
        <p:txBody>
          <a:bodyPr wrap="square" lIns="0" tIns="0" rIns="0" bIns="0" rtlCol="0" anchor="ctr"/>
          <a:lstStyle/>
          <a:p>
            <a:pPr marL="0" indent="0" algn="ctr">
              <a:buNone/>
            </a:pPr>
            <a:r>
              <a:rPr lang="en-US" sz="2000" b="1" dirty="0">
                <a:solidFill>
                  <a:srgbClr val="0D9488"/>
                </a:solidFill>
              </a:rPr>
              <a:t>›</a:t>
            </a:r>
            <a:endParaRPr lang="en-US" sz="2000" dirty="0"/>
          </a:p>
        </p:txBody>
      </p:sp>
      <p:sp>
        <p:nvSpPr>
          <p:cNvPr id="17" name="Shape 15"/>
          <p:cNvSpPr/>
          <p:nvPr/>
        </p:nvSpPr>
        <p:spPr>
          <a:xfrm>
            <a:off x="6702552" y="1481328"/>
            <a:ext cx="1938528" cy="841248"/>
          </a:xfrm>
          <a:prstGeom prst="roundRect">
            <a:avLst>
              <a:gd name="adj" fmla="val 6522"/>
            </a:avLst>
          </a:prstGeom>
          <a:solidFill>
            <a:srgbClr val="F2F2F2"/>
          </a:solidFill>
          <a:ln/>
          <a:effectLst>
            <a:outerShdw blurRad="50800" dist="12700" dir="5400000" algn="bl" rotWithShape="0">
              <a:srgbClr val="000000">
                <a:alpha val="8000"/>
              </a:srgbClr>
            </a:outerShdw>
          </a:effectLst>
        </p:spPr>
        <p:txBody>
          <a:bodyPr/>
          <a:lstStyle/>
          <a:p>
            <a:endParaRPr lang="LID4096"/>
          </a:p>
        </p:txBody>
      </p:sp>
      <p:sp>
        <p:nvSpPr>
          <p:cNvPr id="18" name="Text 16"/>
          <p:cNvSpPr/>
          <p:nvPr/>
        </p:nvSpPr>
        <p:spPr>
          <a:xfrm>
            <a:off x="6757416" y="155448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ImageNet Normalize</a:t>
            </a:r>
            <a:endParaRPr lang="en-US" sz="1050" dirty="0"/>
          </a:p>
        </p:txBody>
      </p:sp>
      <p:sp>
        <p:nvSpPr>
          <p:cNvPr id="19" name="Text 17"/>
          <p:cNvSpPr/>
          <p:nvPr/>
        </p:nvSpPr>
        <p:spPr>
          <a:xfrm>
            <a:off x="6757416" y="1847088"/>
            <a:ext cx="1828800" cy="429768"/>
          </a:xfrm>
          <a:prstGeom prst="rect">
            <a:avLst/>
          </a:prstGeom>
          <a:noFill/>
          <a:ln/>
        </p:spPr>
        <p:txBody>
          <a:bodyPr wrap="square" lIns="0" tIns="0" rIns="0" bIns="0" rtlCol="0" anchor="t"/>
          <a:lstStyle/>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(pixel − mean) / std</a:t>
            </a:r>
            <a:endParaRPr lang="en-US" sz="830" dirty="0"/>
          </a:p>
          <a:p>
            <a:pPr marL="0" indent="0" algn="ctr">
              <a:lnSpc>
                <a:spcPct val="100000"/>
              </a:lnSpc>
              <a:buNone/>
            </a:pPr>
            <a:r>
              <a:rPr lang="en-US" sz="830" dirty="0">
                <a:solidFill>
                  <a:srgbClr val="64748B"/>
                </a:solidFill>
                <a:latin typeface="Calibri" pitchFamily="34" charset="0"/>
                <a:ea typeface="Calibri" pitchFamily="34" charset="-122"/>
                <a:cs typeface="Calibri" pitchFamily="34" charset="-120"/>
              </a:rPr>
              <a:t>per RGB channel</a:t>
            </a:r>
            <a:endParaRPr lang="en-US" sz="830" dirty="0"/>
          </a:p>
        </p:txBody>
      </p:sp>
      <p:sp>
        <p:nvSpPr>
          <p:cNvPr id="20" name="Text 18"/>
          <p:cNvSpPr/>
          <p:nvPr/>
        </p:nvSpPr>
        <p:spPr>
          <a:xfrm>
            <a:off x="502920" y="2359152"/>
            <a:ext cx="8138160" cy="256032"/>
          </a:xfrm>
          <a:prstGeom prst="rect">
            <a:avLst/>
          </a:prstGeom>
          <a:noFill/>
          <a:ln/>
        </p:spPr>
        <p:txBody>
          <a:bodyPr wrap="square" lIns="0" tIns="0" rIns="0" bIns="0" rtlCol="0" anchor="ctr"/>
          <a:lstStyle/>
          <a:p>
            <a:pPr marL="0" indent="0" algn="ctr">
              <a:buNone/>
            </a:pPr>
            <a:r>
              <a:rPr lang="en-US" sz="1050" b="1" dirty="0">
                <a:solidFill>
                  <a:srgbClr val="0D9488"/>
                </a:solidFill>
                <a:latin typeface="Calibri" pitchFamily="34" charset="0"/>
                <a:ea typeface="Calibri" pitchFamily="34" charset="-122"/>
                <a:cs typeface="Calibri" pitchFamily="34" charset="-120"/>
              </a:rPr>
              <a:t>▼  batch of 32 Images ▼</a:t>
            </a:r>
            <a:endParaRPr lang="en-US" sz="1050" dirty="0"/>
          </a:p>
        </p:txBody>
      </p:sp>
      <p:sp>
        <p:nvSpPr>
          <p:cNvPr id="21" name="Shape 19"/>
          <p:cNvSpPr/>
          <p:nvPr/>
        </p:nvSpPr>
        <p:spPr>
          <a:xfrm>
            <a:off x="502920" y="2670048"/>
            <a:ext cx="1938528" cy="950976"/>
          </a:xfrm>
          <a:prstGeom prst="roundRect">
            <a:avLst>
              <a:gd name="adj" fmla="val 5769"/>
            </a:avLst>
          </a:prstGeom>
          <a:solidFill>
            <a:srgbClr val="E6F6F4"/>
          </a:solidFill>
          <a:ln/>
          <a:effectLst>
            <a:outerShdw blurRad="50800" dist="12700" dir="5400000" algn="bl" rotWithShape="0">
              <a:srgbClr val="000000">
                <a:alpha val="8000"/>
              </a:srgbClr>
            </a:outerShdw>
          </a:effectLst>
        </p:spPr>
        <p:txBody>
          <a:bodyPr/>
          <a:lstStyle/>
          <a:p>
            <a:endParaRPr lang="LID4096"/>
          </a:p>
        </p:txBody>
      </p:sp>
      <p:sp>
        <p:nvSpPr>
          <p:cNvPr id="22" name="Text 20"/>
          <p:cNvSpPr/>
          <p:nvPr/>
        </p:nvSpPr>
        <p:spPr>
          <a:xfrm>
            <a:off x="557784" y="274320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Conv Backbone</a:t>
            </a:r>
            <a:endParaRPr lang="en-US" sz="1050" dirty="0"/>
          </a:p>
        </p:txBody>
      </p:sp>
      <p:sp>
        <p:nvSpPr>
          <p:cNvPr id="23" name="Text 21"/>
          <p:cNvSpPr/>
          <p:nvPr/>
        </p:nvSpPr>
        <p:spPr>
          <a:xfrm>
            <a:off x="557784" y="3035808"/>
            <a:ext cx="1828800" cy="539496"/>
          </a:xfrm>
          <a:prstGeom prst="rect">
            <a:avLst/>
          </a:prstGeom>
          <a:noFill/>
          <a:ln/>
        </p:spPr>
        <p:txBody>
          <a:bodyPr wrap="square" lIns="0" tIns="0" rIns="0" bIns="0" rtlCol="0" anchor="t"/>
          <a:lstStyle/>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EfficientNet-B3 filters —</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feature maps shrink via</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pooling / striding</a:t>
            </a:r>
            <a:endParaRPr lang="en-US" sz="830" dirty="0"/>
          </a:p>
        </p:txBody>
      </p:sp>
      <p:sp>
        <p:nvSpPr>
          <p:cNvPr id="24" name="Text 22"/>
          <p:cNvSpPr/>
          <p:nvPr/>
        </p:nvSpPr>
        <p:spPr>
          <a:xfrm>
            <a:off x="2441448" y="2724912"/>
            <a:ext cx="128016" cy="841248"/>
          </a:xfrm>
          <a:prstGeom prst="rect">
            <a:avLst/>
          </a:prstGeom>
          <a:noFill/>
          <a:ln/>
        </p:spPr>
        <p:txBody>
          <a:bodyPr wrap="square" lIns="0" tIns="0" rIns="0" bIns="0" rtlCol="0" anchor="ctr"/>
          <a:lstStyle/>
          <a:p>
            <a:pPr marL="0" indent="0" algn="ctr">
              <a:buNone/>
            </a:pPr>
            <a:r>
              <a:rPr lang="en-US" sz="2000" b="1" dirty="0">
                <a:solidFill>
                  <a:srgbClr val="0D9488"/>
                </a:solidFill>
              </a:rPr>
              <a:t>›</a:t>
            </a:r>
            <a:endParaRPr lang="en-US" sz="2000" dirty="0"/>
          </a:p>
        </p:txBody>
      </p:sp>
      <p:sp>
        <p:nvSpPr>
          <p:cNvPr id="25" name="Shape 23"/>
          <p:cNvSpPr/>
          <p:nvPr/>
        </p:nvSpPr>
        <p:spPr>
          <a:xfrm>
            <a:off x="2569464" y="2670048"/>
            <a:ext cx="1938528" cy="950976"/>
          </a:xfrm>
          <a:prstGeom prst="roundRect">
            <a:avLst>
              <a:gd name="adj" fmla="val 5769"/>
            </a:avLst>
          </a:prstGeom>
          <a:solidFill>
            <a:srgbClr val="E6F6F4"/>
          </a:solidFill>
          <a:ln/>
          <a:effectLst>
            <a:outerShdw blurRad="50800" dist="12700" dir="5400000" algn="bl" rotWithShape="0">
              <a:srgbClr val="000000">
                <a:alpha val="8000"/>
              </a:srgbClr>
            </a:outerShdw>
          </a:effectLst>
        </p:spPr>
        <p:txBody>
          <a:bodyPr/>
          <a:lstStyle/>
          <a:p>
            <a:endParaRPr lang="LID4096"/>
          </a:p>
        </p:txBody>
      </p:sp>
      <p:sp>
        <p:nvSpPr>
          <p:cNvPr id="26" name="Text 24"/>
          <p:cNvSpPr/>
          <p:nvPr/>
        </p:nvSpPr>
        <p:spPr>
          <a:xfrm>
            <a:off x="2624328" y="274320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Global Avg Pool</a:t>
            </a:r>
            <a:endParaRPr lang="en-US" sz="1050" dirty="0"/>
          </a:p>
        </p:txBody>
      </p:sp>
      <p:sp>
        <p:nvSpPr>
          <p:cNvPr id="27" name="Text 25"/>
          <p:cNvSpPr/>
          <p:nvPr/>
        </p:nvSpPr>
        <p:spPr>
          <a:xfrm>
            <a:off x="2624328" y="3035808"/>
            <a:ext cx="1828800" cy="539496"/>
          </a:xfrm>
          <a:prstGeom prst="rect">
            <a:avLst/>
          </a:prstGeom>
          <a:noFill/>
          <a:ln/>
        </p:spPr>
        <p:txBody>
          <a:bodyPr wrap="square" lIns="0" tIns="0" rIns="0" bIns="0" rtlCol="0" anchor="t"/>
          <a:lstStyle/>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Each feature map</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 one number</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(1536 features total)</a:t>
            </a:r>
            <a:endParaRPr lang="en-US" sz="830" dirty="0"/>
          </a:p>
        </p:txBody>
      </p:sp>
      <p:sp>
        <p:nvSpPr>
          <p:cNvPr id="28" name="Text 26"/>
          <p:cNvSpPr/>
          <p:nvPr/>
        </p:nvSpPr>
        <p:spPr>
          <a:xfrm>
            <a:off x="4507992" y="2724912"/>
            <a:ext cx="128016" cy="841248"/>
          </a:xfrm>
          <a:prstGeom prst="rect">
            <a:avLst/>
          </a:prstGeom>
          <a:noFill/>
          <a:ln/>
        </p:spPr>
        <p:txBody>
          <a:bodyPr wrap="square" lIns="0" tIns="0" rIns="0" bIns="0" rtlCol="0" anchor="ctr"/>
          <a:lstStyle/>
          <a:p>
            <a:pPr marL="0" indent="0" algn="ctr">
              <a:buNone/>
            </a:pPr>
            <a:r>
              <a:rPr lang="en-US" sz="2000" b="1" dirty="0">
                <a:solidFill>
                  <a:srgbClr val="0D9488"/>
                </a:solidFill>
              </a:rPr>
              <a:t>›</a:t>
            </a:r>
            <a:endParaRPr lang="en-US" sz="2000" dirty="0"/>
          </a:p>
        </p:txBody>
      </p:sp>
      <p:sp>
        <p:nvSpPr>
          <p:cNvPr id="29" name="Shape 27"/>
          <p:cNvSpPr/>
          <p:nvPr/>
        </p:nvSpPr>
        <p:spPr>
          <a:xfrm>
            <a:off x="4636008" y="2670048"/>
            <a:ext cx="1938528" cy="950976"/>
          </a:xfrm>
          <a:prstGeom prst="roundRect">
            <a:avLst>
              <a:gd name="adj" fmla="val 5769"/>
            </a:avLst>
          </a:prstGeom>
          <a:solidFill>
            <a:srgbClr val="E6F6F4"/>
          </a:solidFill>
          <a:ln/>
          <a:effectLst>
            <a:outerShdw blurRad="50800" dist="12700" dir="5400000" algn="bl" rotWithShape="0">
              <a:srgbClr val="000000">
                <a:alpha val="8000"/>
              </a:srgbClr>
            </a:outerShdw>
          </a:effectLst>
        </p:spPr>
        <p:txBody>
          <a:bodyPr/>
          <a:lstStyle/>
          <a:p>
            <a:endParaRPr lang="LID4096"/>
          </a:p>
        </p:txBody>
      </p:sp>
      <p:sp>
        <p:nvSpPr>
          <p:cNvPr id="30" name="Text 28"/>
          <p:cNvSpPr/>
          <p:nvPr/>
        </p:nvSpPr>
        <p:spPr>
          <a:xfrm>
            <a:off x="4690872" y="274320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Dropout</a:t>
            </a:r>
            <a:endParaRPr lang="en-US" sz="1050" dirty="0"/>
          </a:p>
        </p:txBody>
      </p:sp>
      <p:sp>
        <p:nvSpPr>
          <p:cNvPr id="31" name="Text 29"/>
          <p:cNvSpPr/>
          <p:nvPr/>
        </p:nvSpPr>
        <p:spPr>
          <a:xfrm>
            <a:off x="4690872" y="3035808"/>
            <a:ext cx="1828800" cy="539496"/>
          </a:xfrm>
          <a:prstGeom prst="rect">
            <a:avLst/>
          </a:prstGeom>
          <a:noFill/>
          <a:ln/>
        </p:spPr>
        <p:txBody>
          <a:bodyPr wrap="square" lIns="0" tIns="0" rIns="0" bIns="0" rtlCol="0" anchor="t"/>
          <a:lstStyle/>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Random neurons turned</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off (default in model)</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to fight overfitting</a:t>
            </a:r>
            <a:endParaRPr lang="en-US" sz="830" dirty="0"/>
          </a:p>
        </p:txBody>
      </p:sp>
      <p:sp>
        <p:nvSpPr>
          <p:cNvPr id="32" name="Text 30"/>
          <p:cNvSpPr/>
          <p:nvPr/>
        </p:nvSpPr>
        <p:spPr>
          <a:xfrm>
            <a:off x="6574536" y="2724912"/>
            <a:ext cx="128016" cy="841248"/>
          </a:xfrm>
          <a:prstGeom prst="rect">
            <a:avLst/>
          </a:prstGeom>
          <a:noFill/>
          <a:ln/>
        </p:spPr>
        <p:txBody>
          <a:bodyPr wrap="square" lIns="0" tIns="0" rIns="0" bIns="0" rtlCol="0" anchor="ctr"/>
          <a:lstStyle/>
          <a:p>
            <a:pPr marL="0" indent="0" algn="ctr">
              <a:buNone/>
            </a:pPr>
            <a:r>
              <a:rPr lang="en-US" sz="2000" b="1" dirty="0">
                <a:solidFill>
                  <a:srgbClr val="0D9488"/>
                </a:solidFill>
              </a:rPr>
              <a:t>›</a:t>
            </a:r>
            <a:endParaRPr lang="en-US" sz="2000" dirty="0"/>
          </a:p>
        </p:txBody>
      </p:sp>
      <p:sp>
        <p:nvSpPr>
          <p:cNvPr id="33" name="Shape 31"/>
          <p:cNvSpPr/>
          <p:nvPr/>
        </p:nvSpPr>
        <p:spPr>
          <a:xfrm>
            <a:off x="6702552" y="2670048"/>
            <a:ext cx="1938528" cy="950976"/>
          </a:xfrm>
          <a:prstGeom prst="roundRect">
            <a:avLst>
              <a:gd name="adj" fmla="val 5769"/>
            </a:avLst>
          </a:prstGeom>
          <a:solidFill>
            <a:srgbClr val="E6F6F4"/>
          </a:solidFill>
          <a:ln/>
          <a:effectLst>
            <a:outerShdw blurRad="50800" dist="12700" dir="5400000" algn="bl" rotWithShape="0">
              <a:srgbClr val="000000">
                <a:alpha val="8000"/>
              </a:srgbClr>
            </a:outerShdw>
          </a:effectLst>
        </p:spPr>
        <p:txBody>
          <a:bodyPr/>
          <a:lstStyle/>
          <a:p>
            <a:endParaRPr lang="LID4096"/>
          </a:p>
        </p:txBody>
      </p:sp>
      <p:sp>
        <p:nvSpPr>
          <p:cNvPr id="34" name="Text 32"/>
          <p:cNvSpPr/>
          <p:nvPr/>
        </p:nvSpPr>
        <p:spPr>
          <a:xfrm>
            <a:off x="6757416" y="2743200"/>
            <a:ext cx="1828800" cy="274320"/>
          </a:xfrm>
          <a:prstGeom prst="rect">
            <a:avLst/>
          </a:prstGeom>
          <a:noFill/>
          <a:ln/>
        </p:spPr>
        <p:txBody>
          <a:bodyPr wrap="square" lIns="0" tIns="0" rIns="0" bIns="0" rtlCol="0" anchor="t"/>
          <a:lstStyle/>
          <a:p>
            <a:pPr marL="0" indent="0" algn="ctr">
              <a:lnSpc>
                <a:spcPct val="95000"/>
              </a:lnSpc>
              <a:buNone/>
            </a:pPr>
            <a:r>
              <a:rPr lang="en-US" sz="1050" b="1" dirty="0">
                <a:solidFill>
                  <a:srgbClr val="263238"/>
                </a:solidFill>
                <a:latin typeface="Calibri" pitchFamily="34" charset="0"/>
                <a:ea typeface="Calibri" pitchFamily="34" charset="-122"/>
                <a:cs typeface="Calibri" pitchFamily="34" charset="-120"/>
              </a:rPr>
              <a:t>FC → 1 Logit</a:t>
            </a:r>
            <a:endParaRPr lang="en-US" sz="1050" dirty="0"/>
          </a:p>
        </p:txBody>
      </p:sp>
      <p:sp>
        <p:nvSpPr>
          <p:cNvPr id="35" name="Text 33"/>
          <p:cNvSpPr/>
          <p:nvPr/>
        </p:nvSpPr>
        <p:spPr>
          <a:xfrm>
            <a:off x="6757416" y="3035808"/>
            <a:ext cx="1828800" cy="539496"/>
          </a:xfrm>
          <a:prstGeom prst="rect">
            <a:avLst/>
          </a:prstGeom>
          <a:noFill/>
          <a:ln/>
        </p:spPr>
        <p:txBody>
          <a:bodyPr wrap="square" lIns="0" tIns="0" rIns="0" bIns="0" rtlCol="0" anchor="t"/>
          <a:lstStyle/>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1536 numbers →</a:t>
            </a:r>
            <a:endParaRPr lang="en-US" sz="830" dirty="0"/>
          </a:p>
          <a:p>
            <a:pPr marL="0" indent="0" algn="ctr">
              <a:lnSpc>
                <a:spcPct val="100000"/>
              </a:lnSpc>
              <a:buNone/>
            </a:pPr>
            <a:r>
              <a:rPr lang="en-US" sz="830" dirty="0">
                <a:solidFill>
                  <a:srgbClr val="1F5953"/>
                </a:solidFill>
                <a:latin typeface="Calibri" pitchFamily="34" charset="0"/>
                <a:ea typeface="Calibri" pitchFamily="34" charset="-122"/>
                <a:cs typeface="Calibri" pitchFamily="34" charset="-120"/>
              </a:rPr>
              <a:t>one raw output value</a:t>
            </a:r>
            <a:endParaRPr lang="en-US" sz="830" dirty="0"/>
          </a:p>
        </p:txBody>
      </p:sp>
      <p:sp>
        <p:nvSpPr>
          <p:cNvPr id="36" name="Shape 34"/>
          <p:cNvSpPr/>
          <p:nvPr/>
        </p:nvSpPr>
        <p:spPr>
          <a:xfrm>
            <a:off x="502920" y="3895344"/>
            <a:ext cx="8138160" cy="566928"/>
          </a:xfrm>
          <a:prstGeom prst="roundRect">
            <a:avLst>
              <a:gd name="adj" fmla="val 12903"/>
            </a:avLst>
          </a:prstGeom>
          <a:solidFill>
            <a:srgbClr val="0D9488"/>
          </a:solidFill>
          <a:ln/>
          <a:effectLst>
            <a:outerShdw blurRad="76200" dist="25400" dir="5400000" algn="bl" rotWithShape="0">
              <a:srgbClr val="000000">
                <a:alpha val="10000"/>
              </a:srgbClr>
            </a:outerShdw>
          </a:effectLst>
        </p:spPr>
        <p:txBody>
          <a:bodyPr/>
          <a:lstStyle/>
          <a:p>
            <a:endParaRPr lang="LID4096"/>
          </a:p>
        </p:txBody>
      </p:sp>
      <p:sp>
        <p:nvSpPr>
          <p:cNvPr id="37" name="Text 35"/>
          <p:cNvSpPr/>
          <p:nvPr/>
        </p:nvSpPr>
        <p:spPr>
          <a:xfrm>
            <a:off x="502920" y="3895344"/>
            <a:ext cx="8138160"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Sigmoid → probability   →   Threshold 0.55   →   Reusable (0)  or  Not Reusable (1)</a:t>
            </a:r>
            <a:endParaRPr lang="en-US" sz="1300" dirty="0"/>
          </a:p>
        </p:txBody>
      </p:sp>
      <p:sp>
        <p:nvSpPr>
          <p:cNvPr id="38" name="Text 36"/>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r>
              <a:rPr lang="en-US" sz="1250" b="1" kern="0" spc="200" dirty="0">
                <a:solidFill>
                  <a:srgbClr val="0D9488"/>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502920" y="566928"/>
            <a:ext cx="8138160" cy="594360"/>
          </a:xfrm>
          <a:prstGeom prst="rect">
            <a:avLst/>
          </a:prstGeom>
          <a:noFill/>
          <a:ln/>
        </p:spPr>
        <p:txBody>
          <a:bodyPr wrap="square" lIns="0" tIns="0" rIns="0" bIns="0"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Model Choice - Why We Switched to EfficientNet-B3</a:t>
            </a:r>
            <a:endParaRPr lang="en-US" sz="2700" dirty="0"/>
          </a:p>
        </p:txBody>
      </p:sp>
      <p:sp>
        <p:nvSpPr>
          <p:cNvPr id="4" name="Shape 2"/>
          <p:cNvSpPr/>
          <p:nvPr/>
        </p:nvSpPr>
        <p:spPr>
          <a:xfrm>
            <a:off x="502920" y="1371600"/>
            <a:ext cx="3931920" cy="1691640"/>
          </a:xfrm>
          <a:prstGeom prst="roundRect">
            <a:avLst>
              <a:gd name="adj" fmla="val 3784"/>
            </a:avLst>
          </a:prstGeom>
          <a:solidFill>
            <a:srgbClr val="F2F2F2"/>
          </a:solidFill>
          <a:ln/>
        </p:spPr>
        <p:txBody>
          <a:bodyPr/>
          <a:lstStyle/>
          <a:p>
            <a:endParaRPr lang="LID4096"/>
          </a:p>
        </p:txBody>
      </p:sp>
      <p:sp>
        <p:nvSpPr>
          <p:cNvPr id="5" name="Text 3"/>
          <p:cNvSpPr/>
          <p:nvPr/>
        </p:nvSpPr>
        <p:spPr>
          <a:xfrm>
            <a:off x="713232" y="1536192"/>
            <a:ext cx="3520440" cy="274320"/>
          </a:xfrm>
          <a:prstGeom prst="rect">
            <a:avLst/>
          </a:prstGeom>
          <a:noFill/>
          <a:ln/>
        </p:spPr>
        <p:txBody>
          <a:bodyPr wrap="square" lIns="0" tIns="0" rIns="0" bIns="0" rtlCol="0" anchor="ctr"/>
          <a:lstStyle/>
          <a:p>
            <a:pPr marL="0" indent="0">
              <a:buNone/>
            </a:pPr>
            <a:r>
              <a:rPr lang="en-US" sz="1250" b="1" dirty="0">
                <a:solidFill>
                  <a:srgbClr val="263238"/>
                </a:solidFill>
                <a:latin typeface="Calibri" pitchFamily="34" charset="0"/>
                <a:ea typeface="Calibri" pitchFamily="34" charset="-122"/>
                <a:cs typeface="Calibri" pitchFamily="34" charset="-120"/>
              </a:rPr>
              <a:t>MobileNetV3-Small  (original)</a:t>
            </a:r>
            <a:endParaRPr lang="en-US" sz="1250" dirty="0"/>
          </a:p>
        </p:txBody>
      </p:sp>
      <p:sp>
        <p:nvSpPr>
          <p:cNvPr id="6" name="Text 4"/>
          <p:cNvSpPr/>
          <p:nvPr/>
        </p:nvSpPr>
        <p:spPr>
          <a:xfrm>
            <a:off x="713232" y="1874520"/>
            <a:ext cx="3520440" cy="457200"/>
          </a:xfrm>
          <a:prstGeom prst="rect">
            <a:avLst/>
          </a:prstGeom>
          <a:noFill/>
          <a:ln/>
        </p:spPr>
        <p:txBody>
          <a:bodyPr wrap="square" lIns="0" tIns="0" rIns="0" bIns="0" rtlCol="0" anchor="ctr"/>
          <a:lstStyle/>
          <a:p>
            <a:pPr marL="0" indent="0">
              <a:buNone/>
            </a:pPr>
            <a:r>
              <a:rPr lang="en-US" sz="2200" b="1" dirty="0">
                <a:solidFill>
                  <a:srgbClr val="64748B"/>
                </a:solidFill>
                <a:latin typeface="Cambria" pitchFamily="34" charset="0"/>
                <a:ea typeface="Cambria" pitchFamily="34" charset="-122"/>
                <a:cs typeface="Cambria" pitchFamily="34" charset="-120"/>
              </a:rPr>
              <a:t>~2.5M parameters</a:t>
            </a:r>
            <a:endParaRPr lang="en-US" sz="2200" dirty="0"/>
          </a:p>
        </p:txBody>
      </p:sp>
      <p:sp>
        <p:nvSpPr>
          <p:cNvPr id="7" name="Text 5"/>
          <p:cNvSpPr/>
          <p:nvPr/>
        </p:nvSpPr>
        <p:spPr>
          <a:xfrm>
            <a:off x="713232" y="2377440"/>
            <a:ext cx="3520440" cy="640080"/>
          </a:xfrm>
          <a:prstGeom prst="rect">
            <a:avLst/>
          </a:prstGeom>
          <a:noFill/>
          <a:ln/>
        </p:spPr>
        <p:txBody>
          <a:bodyPr wrap="square" lIns="0" tIns="0" rIns="0" bIns="0" rtlCol="0" anchor="ctr"/>
          <a:lstStyle/>
          <a:p>
            <a:pPr marL="0" indent="0">
              <a:lnSpc>
                <a:spcPct val="110000"/>
              </a:lnSpc>
              <a:buNone/>
            </a:pPr>
            <a:r>
              <a:rPr lang="en-US" sz="1100" dirty="0">
                <a:solidFill>
                  <a:srgbClr val="64748B"/>
                </a:solidFill>
                <a:latin typeface="Calibri" pitchFamily="34" charset="0"/>
                <a:ea typeface="Calibri" pitchFamily="34" charset="-122"/>
                <a:cs typeface="Calibri" pitchFamily="34" charset="-120"/>
              </a:rPr>
              <a:t>Designed for mobile phones: fast and small rather than accurate, there’s a limit to how it can learn complex patterns.</a:t>
            </a:r>
            <a:endParaRPr lang="en-US" sz="1100" dirty="0"/>
          </a:p>
        </p:txBody>
      </p:sp>
      <p:sp>
        <p:nvSpPr>
          <p:cNvPr id="8" name="Shape 6"/>
          <p:cNvSpPr/>
          <p:nvPr/>
        </p:nvSpPr>
        <p:spPr>
          <a:xfrm>
            <a:off x="4709160" y="1371600"/>
            <a:ext cx="3931920" cy="1691640"/>
          </a:xfrm>
          <a:prstGeom prst="roundRect">
            <a:avLst>
              <a:gd name="adj" fmla="val 3784"/>
            </a:avLst>
          </a:prstGeom>
          <a:solidFill>
            <a:srgbClr val="0D9488"/>
          </a:solidFill>
          <a:ln/>
          <a:effectLst>
            <a:outerShdw blurRad="101600" dist="25400" dir="5400000" algn="bl" rotWithShape="0">
              <a:srgbClr val="000000">
                <a:alpha val="12000"/>
              </a:srgbClr>
            </a:outerShdw>
          </a:effectLst>
        </p:spPr>
        <p:txBody>
          <a:bodyPr/>
          <a:lstStyle/>
          <a:p>
            <a:endParaRPr lang="LID4096"/>
          </a:p>
        </p:txBody>
      </p:sp>
      <p:sp>
        <p:nvSpPr>
          <p:cNvPr id="9" name="Text 7"/>
          <p:cNvSpPr/>
          <p:nvPr/>
        </p:nvSpPr>
        <p:spPr>
          <a:xfrm>
            <a:off x="4919472" y="1536192"/>
            <a:ext cx="352044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EfficientNet-B3  (ours)</a:t>
            </a:r>
            <a:endParaRPr lang="en-US" sz="1250" dirty="0"/>
          </a:p>
        </p:txBody>
      </p:sp>
      <p:sp>
        <p:nvSpPr>
          <p:cNvPr id="10" name="Text 8"/>
          <p:cNvSpPr/>
          <p:nvPr/>
        </p:nvSpPr>
        <p:spPr>
          <a:xfrm>
            <a:off x="4919472" y="1874520"/>
            <a:ext cx="3520440" cy="457200"/>
          </a:xfrm>
          <a:prstGeom prst="rect">
            <a:avLst/>
          </a:prstGeom>
          <a:noFill/>
          <a:ln/>
        </p:spPr>
        <p:txBody>
          <a:bodyPr wrap="square" lIns="0" tIns="0" rIns="0" bIns="0" rtlCol="0" anchor="ctr"/>
          <a:lstStyle/>
          <a:p>
            <a:pPr marL="0" indent="0">
              <a:buNone/>
            </a:pPr>
            <a:r>
              <a:rPr lang="en-US" sz="2200" b="1" dirty="0">
                <a:solidFill>
                  <a:srgbClr val="5EEAD4"/>
                </a:solidFill>
                <a:latin typeface="Cambria" pitchFamily="34" charset="0"/>
                <a:ea typeface="Cambria" pitchFamily="34" charset="-122"/>
                <a:cs typeface="Cambria" pitchFamily="34" charset="-120"/>
              </a:rPr>
              <a:t>~12M parameters</a:t>
            </a:r>
            <a:endParaRPr lang="en-US" sz="2200" dirty="0"/>
          </a:p>
        </p:txBody>
      </p:sp>
      <p:sp>
        <p:nvSpPr>
          <p:cNvPr id="11" name="Text 9"/>
          <p:cNvSpPr/>
          <p:nvPr/>
        </p:nvSpPr>
        <p:spPr>
          <a:xfrm>
            <a:off x="4919472" y="2377440"/>
            <a:ext cx="3520440" cy="640080"/>
          </a:xfrm>
          <a:prstGeom prst="rect">
            <a:avLst/>
          </a:prstGeom>
          <a:noFill/>
          <a:ln/>
        </p:spPr>
        <p:txBody>
          <a:bodyPr wrap="square" lIns="0" tIns="0" rIns="0" bIns="0" rtlCol="0" anchor="ctr"/>
          <a:lstStyle/>
          <a:p>
            <a:pPr marL="0" indent="0">
              <a:lnSpc>
                <a:spcPct val="110000"/>
              </a:lnSpc>
              <a:buNone/>
            </a:pPr>
            <a:r>
              <a:rPr lang="en-US" sz="1100" dirty="0">
                <a:solidFill>
                  <a:srgbClr val="DFFCF7"/>
                </a:solidFill>
                <a:latin typeface="Calibri" pitchFamily="34" charset="0"/>
                <a:ea typeface="Calibri" pitchFamily="34" charset="-122"/>
                <a:cs typeface="Calibri" pitchFamily="34" charset="-120"/>
              </a:rPr>
              <a:t>Layers, feature maps, and input resolution scaled together in a balanced way, with a strong F1.</a:t>
            </a:r>
            <a:endParaRPr lang="en-US" sz="1100" dirty="0"/>
          </a:p>
        </p:txBody>
      </p:sp>
      <p:sp>
        <p:nvSpPr>
          <p:cNvPr id="12" name="Shape 10"/>
          <p:cNvSpPr/>
          <p:nvPr/>
        </p:nvSpPr>
        <p:spPr>
          <a:xfrm>
            <a:off x="502920" y="3246120"/>
            <a:ext cx="8138160" cy="1371600"/>
          </a:xfrm>
          <a:prstGeom prst="roundRect">
            <a:avLst>
              <a:gd name="adj" fmla="val 4667"/>
            </a:avLst>
          </a:prstGeom>
          <a:solidFill>
            <a:srgbClr val="E6F6F4"/>
          </a:solidFill>
          <a:ln/>
        </p:spPr>
        <p:txBody>
          <a:bodyPr/>
          <a:lstStyle/>
          <a:p>
            <a:endParaRPr lang="LID4096"/>
          </a:p>
        </p:txBody>
      </p:sp>
      <p:sp>
        <p:nvSpPr>
          <p:cNvPr id="13" name="Text 11"/>
          <p:cNvSpPr/>
          <p:nvPr/>
        </p:nvSpPr>
        <p:spPr>
          <a:xfrm>
            <a:off x="713232" y="3364992"/>
            <a:ext cx="7726680" cy="1143000"/>
          </a:xfrm>
          <a:prstGeom prst="rect">
            <a:avLst/>
          </a:prstGeom>
          <a:noFill/>
          <a:ln/>
        </p:spPr>
        <p:txBody>
          <a:bodyPr wrap="square" lIns="0" tIns="0" rIns="0" bIns="0" rtlCol="0" anchor="ctr"/>
          <a:lstStyle/>
          <a:p>
            <a:pPr marL="0" indent="0">
              <a:lnSpc>
                <a:spcPct val="108000"/>
              </a:lnSpc>
              <a:spcAft>
                <a:spcPts val="600"/>
              </a:spcAft>
              <a:buNone/>
            </a:pPr>
            <a:r>
              <a:rPr lang="en-US" sz="1150" b="1" dirty="0">
                <a:solidFill>
                  <a:srgbClr val="263238"/>
                </a:solidFill>
                <a:latin typeface="Calibri" pitchFamily="34" charset="0"/>
                <a:ea typeface="Calibri" pitchFamily="34" charset="-122"/>
                <a:cs typeface="Calibri" pitchFamily="34" charset="-120"/>
              </a:rPr>
              <a:t>Both use transfer learning  </a:t>
            </a:r>
            <a:endParaRPr lang="en-US" sz="1150" dirty="0"/>
          </a:p>
          <a:p>
            <a:pPr marL="0" indent="0">
              <a:lnSpc>
                <a:spcPct val="108000"/>
              </a:lnSpc>
              <a:spcAft>
                <a:spcPts val="600"/>
              </a:spcAft>
              <a:buNone/>
            </a:pPr>
            <a:r>
              <a:rPr lang="en-US" sz="1150" dirty="0">
                <a:solidFill>
                  <a:srgbClr val="263238"/>
                </a:solidFill>
                <a:latin typeface="Calibri" pitchFamily="34" charset="0"/>
                <a:ea typeface="Calibri" pitchFamily="34" charset="-122"/>
                <a:cs typeface="Calibri" pitchFamily="34" charset="-120"/>
              </a:rPr>
              <a:t>Pretrained on ImageNet's 1.2M images. We kept all the learned knowledge about edges, textures and shapes, and replaced only the final layer (1,000 classes → 1 output neuron, which starts with random weights).</a:t>
            </a:r>
            <a:endParaRPr lang="en-US" sz="1150" dirty="0"/>
          </a:p>
          <a:p>
            <a:pPr>
              <a:lnSpc>
                <a:spcPct val="108000"/>
              </a:lnSpc>
            </a:pPr>
            <a:r>
              <a:rPr lang="en-US" sz="1150" b="1" dirty="0">
                <a:solidFill>
                  <a:srgbClr val="B3261E"/>
                </a:solidFill>
                <a:latin typeface="Calibri" pitchFamily="34" charset="0"/>
                <a:ea typeface="Calibri" pitchFamily="34" charset="-122"/>
                <a:cs typeface="Calibri" pitchFamily="34" charset="-120"/>
              </a:rPr>
              <a:t>Accepted trade-off:  </a:t>
            </a:r>
            <a:r>
              <a:rPr lang="en-US" sz="1150" dirty="0">
                <a:solidFill>
                  <a:srgbClr val="263238"/>
                </a:solidFill>
                <a:latin typeface="Calibri" pitchFamily="34" charset="0"/>
                <a:ea typeface="Calibri" pitchFamily="34" charset="-122"/>
                <a:cs typeface="Calibri" pitchFamily="34" charset="-120"/>
              </a:rPr>
              <a:t> EfficientNet-B3 is slower - it cost us on the 30% efficiency score, but we </a:t>
            </a:r>
            <a:r>
              <a:rPr lang="en-US" sz="1150" dirty="0" err="1">
                <a:solidFill>
                  <a:srgbClr val="263238"/>
                </a:solidFill>
                <a:latin typeface="Calibri" pitchFamily="34" charset="0"/>
                <a:ea typeface="Calibri" pitchFamily="34" charset="-122"/>
                <a:cs typeface="Calibri" pitchFamily="34" charset="-120"/>
              </a:rPr>
              <a:t>preffered</a:t>
            </a:r>
            <a:r>
              <a:rPr lang="en-US" sz="1150" dirty="0">
                <a:solidFill>
                  <a:srgbClr val="263238"/>
                </a:solidFill>
                <a:latin typeface="Calibri" pitchFamily="34" charset="0"/>
                <a:ea typeface="Calibri" pitchFamily="34" charset="-122"/>
                <a:cs typeface="Calibri" pitchFamily="34" charset="-120"/>
              </a:rPr>
              <a:t> the F1 gain as worth more ((50% of the score)).</a:t>
            </a:r>
            <a:endParaRPr lang="en-US" sz="1150" dirty="0"/>
          </a:p>
        </p:txBody>
      </p:sp>
      <p:sp>
        <p:nvSpPr>
          <p:cNvPr id="14" name="Text 12"/>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0D9488"/>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502920" y="548640"/>
            <a:ext cx="8138160" cy="594360"/>
          </a:xfrm>
          <a:prstGeom prst="rect">
            <a:avLst/>
          </a:prstGeom>
          <a:noFill/>
          <a:ln/>
        </p:spPr>
        <p:txBody>
          <a:bodyPr wrap="square" lIns="0" tIns="0" rIns="0" bIns="0" rtlCol="0" anchor="ctr"/>
          <a:lstStyle/>
          <a:p>
            <a:pPr marL="0" indent="0">
              <a:buNone/>
            </a:pPr>
            <a:r>
              <a:rPr lang="en-US" sz="2500" b="1" dirty="0">
                <a:solidFill>
                  <a:srgbClr val="263238"/>
                </a:solidFill>
                <a:latin typeface="Cambria" pitchFamily="34" charset="0"/>
                <a:ea typeface="Cambria" pitchFamily="34" charset="-122"/>
                <a:cs typeface="Cambria" pitchFamily="34" charset="-120"/>
              </a:rPr>
              <a:t>Key Design Decisions, Each With a Reason</a:t>
            </a:r>
            <a:endParaRPr lang="en-US" sz="2500" dirty="0"/>
          </a:p>
        </p:txBody>
      </p:sp>
      <p:sp>
        <p:nvSpPr>
          <p:cNvPr id="4" name="Shape 2"/>
          <p:cNvSpPr/>
          <p:nvPr/>
        </p:nvSpPr>
        <p:spPr>
          <a:xfrm>
            <a:off x="502920" y="1325880"/>
            <a:ext cx="2606040" cy="1481328"/>
          </a:xfrm>
          <a:prstGeom prst="roundRect">
            <a:avLst>
              <a:gd name="adj" fmla="val 3704"/>
            </a:avLst>
          </a:prstGeom>
          <a:solidFill>
            <a:srgbClr val="F2F2F2"/>
          </a:solidFill>
          <a:ln/>
        </p:spPr>
        <p:txBody>
          <a:bodyPr/>
          <a:lstStyle/>
          <a:p>
            <a:endParaRPr lang="LID4096"/>
          </a:p>
        </p:txBody>
      </p:sp>
      <p:sp>
        <p:nvSpPr>
          <p:cNvPr id="5" name="Shape 3"/>
          <p:cNvSpPr/>
          <p:nvPr/>
        </p:nvSpPr>
        <p:spPr>
          <a:xfrm>
            <a:off x="649224" y="1472184"/>
            <a:ext cx="365760" cy="365760"/>
          </a:xfrm>
          <a:prstGeom prst="ellipse">
            <a:avLst/>
          </a:prstGeom>
          <a:solidFill>
            <a:srgbClr val="0D9488"/>
          </a:solidFill>
          <a:ln/>
        </p:spPr>
        <p:txBody>
          <a:bodyPr/>
          <a:lstStyle/>
          <a:p>
            <a:endParaRPr lang="LID4096"/>
          </a:p>
        </p:txBody>
      </p:sp>
      <p:pic>
        <p:nvPicPr>
          <p:cNvPr id="6" name="Image 0" descr="preencoded.png"/>
          <p:cNvPicPr>
            <a:picLocks noChangeAspect="1"/>
          </p:cNvPicPr>
          <p:nvPr/>
        </p:nvPicPr>
        <p:blipFill>
          <a:blip r:embed="rId3"/>
          <a:stretch>
            <a:fillRect/>
          </a:stretch>
        </p:blipFill>
        <p:spPr>
          <a:xfrm>
            <a:off x="696773" y="1519733"/>
            <a:ext cx="270662" cy="270662"/>
          </a:xfrm>
          <a:prstGeom prst="rect">
            <a:avLst/>
          </a:prstGeom>
        </p:spPr>
      </p:pic>
      <p:sp>
        <p:nvSpPr>
          <p:cNvPr id="7" name="Text 4"/>
          <p:cNvSpPr/>
          <p:nvPr/>
        </p:nvSpPr>
        <p:spPr>
          <a:xfrm>
            <a:off x="1088136" y="1453896"/>
            <a:ext cx="1874520" cy="457200"/>
          </a:xfrm>
          <a:prstGeom prst="rect">
            <a:avLst/>
          </a:prstGeom>
          <a:noFill/>
          <a:ln/>
        </p:spPr>
        <p:txBody>
          <a:bodyPr wrap="square" lIns="0" tIns="0" rIns="0" bIns="0" rtlCol="0" anchor="ctr"/>
          <a:lstStyle/>
          <a:p>
            <a:pPr marL="0" indent="0">
              <a:lnSpc>
                <a:spcPct val="98000"/>
              </a:lnSpc>
              <a:buNone/>
            </a:pPr>
            <a:r>
              <a:rPr lang="en-US" sz="1100" b="1" dirty="0">
                <a:solidFill>
                  <a:srgbClr val="263238"/>
                </a:solidFill>
                <a:latin typeface="Calibri" pitchFamily="34" charset="0"/>
                <a:ea typeface="Calibri" pitchFamily="34" charset="-122"/>
                <a:cs typeface="Calibri" pitchFamily="34" charset="-120"/>
              </a:rPr>
              <a:t>Frozen backbone (5 epochs)</a:t>
            </a:r>
            <a:endParaRPr lang="en-US" sz="1100" dirty="0"/>
          </a:p>
        </p:txBody>
      </p:sp>
      <p:sp>
        <p:nvSpPr>
          <p:cNvPr id="8" name="Text 5"/>
          <p:cNvSpPr/>
          <p:nvPr/>
        </p:nvSpPr>
        <p:spPr>
          <a:xfrm>
            <a:off x="649224" y="1929384"/>
            <a:ext cx="2313432" cy="804672"/>
          </a:xfrm>
          <a:prstGeom prst="rect">
            <a:avLst/>
          </a:prstGeom>
          <a:noFill/>
          <a:ln/>
        </p:spPr>
        <p:txBody>
          <a:bodyPr wrap="square" lIns="0" tIns="0" rIns="0" bIns="0" rtlCol="0" anchor="ctr"/>
          <a:lstStyle/>
          <a:p>
            <a:pPr marL="0" indent="0">
              <a:lnSpc>
                <a:spcPct val="102000"/>
              </a:lnSpc>
              <a:buNone/>
            </a:pPr>
            <a:r>
              <a:rPr lang="en-US" sz="930" dirty="0">
                <a:solidFill>
                  <a:srgbClr val="64748B"/>
                </a:solidFill>
                <a:latin typeface="Calibri" pitchFamily="34" charset="0"/>
                <a:ea typeface="Calibri" pitchFamily="34" charset="-122"/>
                <a:cs typeface="Calibri" pitchFamily="34" charset="-120"/>
              </a:rPr>
              <a:t>Random head weights would send chaotic gradients through pretrained weights. Head trains alone for 5 epochs, backbone unfreezes at epoch 6.</a:t>
            </a:r>
            <a:endParaRPr lang="en-US" sz="930" dirty="0"/>
          </a:p>
        </p:txBody>
      </p:sp>
      <p:sp>
        <p:nvSpPr>
          <p:cNvPr id="9" name="Shape 6"/>
          <p:cNvSpPr/>
          <p:nvPr/>
        </p:nvSpPr>
        <p:spPr>
          <a:xfrm>
            <a:off x="3291840" y="1325880"/>
            <a:ext cx="2606040" cy="1481328"/>
          </a:xfrm>
          <a:prstGeom prst="roundRect">
            <a:avLst>
              <a:gd name="adj" fmla="val 3704"/>
            </a:avLst>
          </a:prstGeom>
          <a:solidFill>
            <a:srgbClr val="F2F2F2"/>
          </a:solidFill>
          <a:ln/>
        </p:spPr>
        <p:txBody>
          <a:bodyPr/>
          <a:lstStyle/>
          <a:p>
            <a:endParaRPr lang="LID4096"/>
          </a:p>
        </p:txBody>
      </p:sp>
      <p:sp>
        <p:nvSpPr>
          <p:cNvPr id="10" name="Shape 7"/>
          <p:cNvSpPr/>
          <p:nvPr/>
        </p:nvSpPr>
        <p:spPr>
          <a:xfrm>
            <a:off x="3438144" y="1472184"/>
            <a:ext cx="365760" cy="365760"/>
          </a:xfrm>
          <a:prstGeom prst="ellipse">
            <a:avLst/>
          </a:prstGeom>
          <a:solidFill>
            <a:srgbClr val="0D9488"/>
          </a:solidFill>
          <a:ln/>
        </p:spPr>
        <p:txBody>
          <a:bodyPr/>
          <a:lstStyle/>
          <a:p>
            <a:endParaRPr lang="LID4096"/>
          </a:p>
        </p:txBody>
      </p:sp>
      <p:pic>
        <p:nvPicPr>
          <p:cNvPr id="11" name="Image 1" descr="preencoded.png"/>
          <p:cNvPicPr>
            <a:picLocks noChangeAspect="1"/>
          </p:cNvPicPr>
          <p:nvPr/>
        </p:nvPicPr>
        <p:blipFill>
          <a:blip r:embed="rId4"/>
          <a:stretch>
            <a:fillRect/>
          </a:stretch>
        </p:blipFill>
        <p:spPr>
          <a:xfrm>
            <a:off x="3485693" y="1519733"/>
            <a:ext cx="270662" cy="270662"/>
          </a:xfrm>
          <a:prstGeom prst="rect">
            <a:avLst/>
          </a:prstGeom>
        </p:spPr>
      </p:pic>
      <p:sp>
        <p:nvSpPr>
          <p:cNvPr id="12" name="Text 8"/>
          <p:cNvSpPr/>
          <p:nvPr/>
        </p:nvSpPr>
        <p:spPr>
          <a:xfrm>
            <a:off x="3877056" y="1453896"/>
            <a:ext cx="1874520" cy="457200"/>
          </a:xfrm>
          <a:prstGeom prst="rect">
            <a:avLst/>
          </a:prstGeom>
          <a:noFill/>
          <a:ln/>
        </p:spPr>
        <p:txBody>
          <a:bodyPr wrap="square" lIns="0" tIns="0" rIns="0" bIns="0" rtlCol="0" anchor="ctr"/>
          <a:lstStyle/>
          <a:p>
            <a:pPr marL="0" indent="0">
              <a:lnSpc>
                <a:spcPct val="98000"/>
              </a:lnSpc>
              <a:buNone/>
            </a:pPr>
            <a:r>
              <a:rPr lang="en-US" sz="1100" b="1" dirty="0">
                <a:solidFill>
                  <a:srgbClr val="263238"/>
                </a:solidFill>
                <a:latin typeface="Calibri" pitchFamily="34" charset="0"/>
                <a:ea typeface="Calibri" pitchFamily="34" charset="-122"/>
                <a:cs typeface="Calibri" pitchFamily="34" charset="-120"/>
              </a:rPr>
              <a:t>Weighted loss (pos_weight)</a:t>
            </a:r>
            <a:endParaRPr lang="en-US" sz="1100" dirty="0"/>
          </a:p>
        </p:txBody>
      </p:sp>
      <p:sp>
        <p:nvSpPr>
          <p:cNvPr id="13" name="Text 9"/>
          <p:cNvSpPr/>
          <p:nvPr/>
        </p:nvSpPr>
        <p:spPr>
          <a:xfrm>
            <a:off x="3438144" y="1929384"/>
            <a:ext cx="2313432" cy="804672"/>
          </a:xfrm>
          <a:prstGeom prst="rect">
            <a:avLst/>
          </a:prstGeom>
          <a:noFill/>
          <a:ln/>
        </p:spPr>
        <p:txBody>
          <a:bodyPr wrap="square" lIns="0" tIns="0" rIns="0" bIns="0" rtlCol="0" anchor="ctr"/>
          <a:lstStyle/>
          <a:p>
            <a:pPr marL="0" indent="0">
              <a:lnSpc>
                <a:spcPct val="102000"/>
              </a:lnSpc>
              <a:buNone/>
            </a:pPr>
            <a:r>
              <a:rPr lang="en-US" sz="930" dirty="0">
                <a:solidFill>
                  <a:srgbClr val="64748B"/>
                </a:solidFill>
                <a:latin typeface="Calibri" pitchFamily="34" charset="0"/>
                <a:ea typeface="Calibri" pitchFamily="34" charset="-122"/>
                <a:cs typeface="Calibri" pitchFamily="34" charset="-120"/>
              </a:rPr>
              <a:t>pos_weight = good∶defective ratio in BCEWithLogitsLoss. A missed defect costs more than a false alarm.</a:t>
            </a:r>
            <a:endParaRPr lang="en-US" sz="930" dirty="0"/>
          </a:p>
        </p:txBody>
      </p:sp>
      <p:sp>
        <p:nvSpPr>
          <p:cNvPr id="14" name="Shape 10"/>
          <p:cNvSpPr/>
          <p:nvPr/>
        </p:nvSpPr>
        <p:spPr>
          <a:xfrm>
            <a:off x="6080760" y="1325880"/>
            <a:ext cx="2606040" cy="1481328"/>
          </a:xfrm>
          <a:prstGeom prst="roundRect">
            <a:avLst>
              <a:gd name="adj" fmla="val 3704"/>
            </a:avLst>
          </a:prstGeom>
          <a:solidFill>
            <a:srgbClr val="F2F2F2"/>
          </a:solidFill>
          <a:ln/>
        </p:spPr>
        <p:txBody>
          <a:bodyPr/>
          <a:lstStyle/>
          <a:p>
            <a:endParaRPr lang="LID4096"/>
          </a:p>
        </p:txBody>
      </p:sp>
      <p:sp>
        <p:nvSpPr>
          <p:cNvPr id="15" name="Shape 11"/>
          <p:cNvSpPr/>
          <p:nvPr/>
        </p:nvSpPr>
        <p:spPr>
          <a:xfrm>
            <a:off x="6227064" y="1472184"/>
            <a:ext cx="365760" cy="365760"/>
          </a:xfrm>
          <a:prstGeom prst="ellipse">
            <a:avLst/>
          </a:prstGeom>
          <a:solidFill>
            <a:srgbClr val="0D9488"/>
          </a:solidFill>
          <a:ln/>
        </p:spPr>
        <p:txBody>
          <a:bodyPr/>
          <a:lstStyle/>
          <a:p>
            <a:endParaRPr lang="LID4096"/>
          </a:p>
        </p:txBody>
      </p:sp>
      <p:pic>
        <p:nvPicPr>
          <p:cNvPr id="16" name="Image 2" descr="preencoded.png"/>
          <p:cNvPicPr>
            <a:picLocks noChangeAspect="1"/>
          </p:cNvPicPr>
          <p:nvPr/>
        </p:nvPicPr>
        <p:blipFill>
          <a:blip r:embed="rId5"/>
          <a:stretch>
            <a:fillRect/>
          </a:stretch>
        </p:blipFill>
        <p:spPr>
          <a:xfrm>
            <a:off x="6274613" y="1519733"/>
            <a:ext cx="270662" cy="270662"/>
          </a:xfrm>
          <a:prstGeom prst="rect">
            <a:avLst/>
          </a:prstGeom>
        </p:spPr>
      </p:pic>
      <p:sp>
        <p:nvSpPr>
          <p:cNvPr id="17" name="Text 12"/>
          <p:cNvSpPr/>
          <p:nvPr/>
        </p:nvSpPr>
        <p:spPr>
          <a:xfrm>
            <a:off x="6665976" y="1453896"/>
            <a:ext cx="1874520" cy="457200"/>
          </a:xfrm>
          <a:prstGeom prst="rect">
            <a:avLst/>
          </a:prstGeom>
          <a:noFill/>
          <a:ln/>
        </p:spPr>
        <p:txBody>
          <a:bodyPr wrap="square" lIns="0" tIns="0" rIns="0" bIns="0" rtlCol="0" anchor="ctr"/>
          <a:lstStyle/>
          <a:p>
            <a:pPr marL="0" indent="0">
              <a:lnSpc>
                <a:spcPct val="98000"/>
              </a:lnSpc>
              <a:buNone/>
            </a:pPr>
            <a:r>
              <a:rPr lang="en-US" sz="1100" b="1" dirty="0">
                <a:solidFill>
                  <a:srgbClr val="263238"/>
                </a:solidFill>
                <a:latin typeface="Calibri" pitchFamily="34" charset="0"/>
                <a:ea typeface="Calibri" pitchFamily="34" charset="-122"/>
                <a:cs typeface="Calibri" pitchFamily="34" charset="-120"/>
              </a:rPr>
              <a:t>Label smoothing</a:t>
            </a:r>
            <a:endParaRPr lang="en-US" sz="1100" dirty="0"/>
          </a:p>
        </p:txBody>
      </p:sp>
      <p:sp>
        <p:nvSpPr>
          <p:cNvPr id="18" name="Text 13"/>
          <p:cNvSpPr/>
          <p:nvPr/>
        </p:nvSpPr>
        <p:spPr>
          <a:xfrm>
            <a:off x="6227064" y="1929384"/>
            <a:ext cx="2313432" cy="804672"/>
          </a:xfrm>
          <a:prstGeom prst="rect">
            <a:avLst/>
          </a:prstGeom>
          <a:noFill/>
          <a:ln/>
        </p:spPr>
        <p:txBody>
          <a:bodyPr wrap="square" lIns="0" tIns="0" rIns="0" bIns="0" rtlCol="0" anchor="ctr"/>
          <a:lstStyle/>
          <a:p>
            <a:pPr marL="0" indent="0">
              <a:lnSpc>
                <a:spcPct val="102000"/>
              </a:lnSpc>
              <a:buNone/>
            </a:pPr>
            <a:r>
              <a:rPr lang="en-US" sz="930" dirty="0">
                <a:solidFill>
                  <a:srgbClr val="64748B"/>
                </a:solidFill>
                <a:latin typeface="Calibri" pitchFamily="34" charset="0"/>
                <a:ea typeface="Calibri" pitchFamily="34" charset="-122"/>
                <a:cs typeface="Calibri" pitchFamily="34" charset="-120"/>
              </a:rPr>
              <a:t>Soften the labels a bit. Stops overconfidence and helps generalization.</a:t>
            </a:r>
          </a:p>
        </p:txBody>
      </p:sp>
      <p:sp>
        <p:nvSpPr>
          <p:cNvPr id="19" name="Shape 14"/>
          <p:cNvSpPr/>
          <p:nvPr/>
        </p:nvSpPr>
        <p:spPr>
          <a:xfrm>
            <a:off x="502920" y="2971800"/>
            <a:ext cx="2606040" cy="1481328"/>
          </a:xfrm>
          <a:prstGeom prst="roundRect">
            <a:avLst>
              <a:gd name="adj" fmla="val 3704"/>
            </a:avLst>
          </a:prstGeom>
          <a:solidFill>
            <a:srgbClr val="F2F2F2"/>
          </a:solidFill>
          <a:ln/>
        </p:spPr>
        <p:txBody>
          <a:bodyPr/>
          <a:lstStyle/>
          <a:p>
            <a:endParaRPr lang="LID4096"/>
          </a:p>
        </p:txBody>
      </p:sp>
      <p:sp>
        <p:nvSpPr>
          <p:cNvPr id="20" name="Shape 15"/>
          <p:cNvSpPr/>
          <p:nvPr/>
        </p:nvSpPr>
        <p:spPr>
          <a:xfrm>
            <a:off x="649224" y="3118104"/>
            <a:ext cx="365760" cy="365760"/>
          </a:xfrm>
          <a:prstGeom prst="ellipse">
            <a:avLst/>
          </a:prstGeom>
          <a:solidFill>
            <a:srgbClr val="0D9488"/>
          </a:solidFill>
          <a:ln/>
        </p:spPr>
        <p:txBody>
          <a:bodyPr/>
          <a:lstStyle/>
          <a:p>
            <a:endParaRPr lang="LID4096"/>
          </a:p>
        </p:txBody>
      </p:sp>
      <p:pic>
        <p:nvPicPr>
          <p:cNvPr id="21" name="Image 3" descr="preencoded.png"/>
          <p:cNvPicPr>
            <a:picLocks noChangeAspect="1"/>
          </p:cNvPicPr>
          <p:nvPr/>
        </p:nvPicPr>
        <p:blipFill>
          <a:blip r:embed="rId6"/>
          <a:stretch>
            <a:fillRect/>
          </a:stretch>
        </p:blipFill>
        <p:spPr>
          <a:xfrm>
            <a:off x="696773" y="3165653"/>
            <a:ext cx="270662" cy="270662"/>
          </a:xfrm>
          <a:prstGeom prst="rect">
            <a:avLst/>
          </a:prstGeom>
        </p:spPr>
      </p:pic>
      <p:sp>
        <p:nvSpPr>
          <p:cNvPr id="22" name="Text 16"/>
          <p:cNvSpPr/>
          <p:nvPr/>
        </p:nvSpPr>
        <p:spPr>
          <a:xfrm>
            <a:off x="1088136" y="3099816"/>
            <a:ext cx="1874520" cy="457200"/>
          </a:xfrm>
          <a:prstGeom prst="rect">
            <a:avLst/>
          </a:prstGeom>
          <a:noFill/>
          <a:ln/>
        </p:spPr>
        <p:txBody>
          <a:bodyPr wrap="square" lIns="0" tIns="0" rIns="0" bIns="0" rtlCol="0" anchor="ctr"/>
          <a:lstStyle/>
          <a:p>
            <a:pPr marL="0" indent="0">
              <a:lnSpc>
                <a:spcPct val="98000"/>
              </a:lnSpc>
              <a:buNone/>
            </a:pPr>
            <a:r>
              <a:rPr lang="en-US" sz="1100" b="1" dirty="0">
                <a:solidFill>
                  <a:srgbClr val="263238"/>
                </a:solidFill>
                <a:latin typeface="Calibri" pitchFamily="34" charset="0"/>
                <a:ea typeface="Calibri" pitchFamily="34" charset="-122"/>
                <a:cs typeface="Calibri" pitchFamily="34" charset="-120"/>
              </a:rPr>
              <a:t>Symmetry-aware augments</a:t>
            </a:r>
            <a:endParaRPr lang="en-US" sz="1100" dirty="0"/>
          </a:p>
        </p:txBody>
      </p:sp>
      <p:sp>
        <p:nvSpPr>
          <p:cNvPr id="23" name="Text 17"/>
          <p:cNvSpPr/>
          <p:nvPr/>
        </p:nvSpPr>
        <p:spPr>
          <a:xfrm>
            <a:off x="649224" y="3575304"/>
            <a:ext cx="2313432" cy="804672"/>
          </a:xfrm>
          <a:prstGeom prst="rect">
            <a:avLst/>
          </a:prstGeom>
          <a:noFill/>
          <a:ln/>
        </p:spPr>
        <p:txBody>
          <a:bodyPr wrap="square" lIns="0" tIns="0" rIns="0" bIns="0" rtlCol="0" anchor="ctr"/>
          <a:lstStyle/>
          <a:p>
            <a:pPr marL="0" indent="0">
              <a:lnSpc>
                <a:spcPct val="102000"/>
              </a:lnSpc>
              <a:buNone/>
            </a:pPr>
            <a:r>
              <a:rPr lang="en-US" sz="930" dirty="0">
                <a:solidFill>
                  <a:srgbClr val="64748B"/>
                </a:solidFill>
                <a:latin typeface="Calibri" pitchFamily="34" charset="0"/>
                <a:ea typeface="Calibri" pitchFamily="34" charset="-122"/>
                <a:cs typeface="Calibri" pitchFamily="34" charset="-120"/>
              </a:rPr>
              <a:t>Vertical flip ±180° rotation (from the ROI-symmetry hint).</a:t>
            </a:r>
            <a:endParaRPr lang="en-US" sz="930" dirty="0"/>
          </a:p>
        </p:txBody>
      </p:sp>
      <p:sp>
        <p:nvSpPr>
          <p:cNvPr id="24" name="Shape 18"/>
          <p:cNvSpPr/>
          <p:nvPr/>
        </p:nvSpPr>
        <p:spPr>
          <a:xfrm>
            <a:off x="3291840" y="2971800"/>
            <a:ext cx="2606040" cy="1481328"/>
          </a:xfrm>
          <a:prstGeom prst="roundRect">
            <a:avLst>
              <a:gd name="adj" fmla="val 3704"/>
            </a:avLst>
          </a:prstGeom>
          <a:solidFill>
            <a:srgbClr val="F2F2F2"/>
          </a:solidFill>
          <a:ln/>
        </p:spPr>
        <p:txBody>
          <a:bodyPr/>
          <a:lstStyle/>
          <a:p>
            <a:endParaRPr lang="LID4096"/>
          </a:p>
        </p:txBody>
      </p:sp>
      <p:sp>
        <p:nvSpPr>
          <p:cNvPr id="25" name="Shape 19"/>
          <p:cNvSpPr/>
          <p:nvPr/>
        </p:nvSpPr>
        <p:spPr>
          <a:xfrm>
            <a:off x="3438144" y="3118104"/>
            <a:ext cx="365760" cy="365760"/>
          </a:xfrm>
          <a:prstGeom prst="ellipse">
            <a:avLst/>
          </a:prstGeom>
          <a:solidFill>
            <a:srgbClr val="0D9488"/>
          </a:solidFill>
          <a:ln/>
        </p:spPr>
        <p:txBody>
          <a:bodyPr/>
          <a:lstStyle/>
          <a:p>
            <a:endParaRPr lang="LID4096"/>
          </a:p>
        </p:txBody>
      </p:sp>
      <p:pic>
        <p:nvPicPr>
          <p:cNvPr id="26" name="Image 4" descr="preencoded.png"/>
          <p:cNvPicPr>
            <a:picLocks noChangeAspect="1"/>
          </p:cNvPicPr>
          <p:nvPr/>
        </p:nvPicPr>
        <p:blipFill>
          <a:blip r:embed="rId7"/>
          <a:stretch>
            <a:fillRect/>
          </a:stretch>
        </p:blipFill>
        <p:spPr>
          <a:xfrm>
            <a:off x="3485693" y="3165653"/>
            <a:ext cx="270662" cy="270662"/>
          </a:xfrm>
          <a:prstGeom prst="rect">
            <a:avLst/>
          </a:prstGeom>
        </p:spPr>
      </p:pic>
      <p:sp>
        <p:nvSpPr>
          <p:cNvPr id="27" name="Text 20"/>
          <p:cNvSpPr/>
          <p:nvPr/>
        </p:nvSpPr>
        <p:spPr>
          <a:xfrm>
            <a:off x="3877056" y="3099816"/>
            <a:ext cx="1874520" cy="457200"/>
          </a:xfrm>
          <a:prstGeom prst="rect">
            <a:avLst/>
          </a:prstGeom>
          <a:noFill/>
          <a:ln/>
        </p:spPr>
        <p:txBody>
          <a:bodyPr wrap="square" lIns="0" tIns="0" rIns="0" bIns="0" rtlCol="0" anchor="ctr"/>
          <a:lstStyle/>
          <a:p>
            <a:pPr marL="0" indent="0">
              <a:lnSpc>
                <a:spcPct val="98000"/>
              </a:lnSpc>
              <a:buNone/>
            </a:pPr>
            <a:r>
              <a:rPr lang="en-US" sz="1100" b="1" dirty="0">
                <a:solidFill>
                  <a:srgbClr val="263238"/>
                </a:solidFill>
                <a:latin typeface="Calibri" pitchFamily="34" charset="0"/>
                <a:ea typeface="Calibri" pitchFamily="34" charset="-122"/>
                <a:cs typeface="Calibri" pitchFamily="34" charset="-120"/>
              </a:rPr>
              <a:t>AdamW + OneCycleLR</a:t>
            </a:r>
            <a:endParaRPr lang="en-US" sz="1100" dirty="0"/>
          </a:p>
        </p:txBody>
      </p:sp>
      <p:sp>
        <p:nvSpPr>
          <p:cNvPr id="28" name="Text 21"/>
          <p:cNvSpPr/>
          <p:nvPr/>
        </p:nvSpPr>
        <p:spPr>
          <a:xfrm>
            <a:off x="3438144" y="3575304"/>
            <a:ext cx="2313432" cy="804672"/>
          </a:xfrm>
          <a:prstGeom prst="rect">
            <a:avLst/>
          </a:prstGeom>
          <a:noFill/>
          <a:ln/>
        </p:spPr>
        <p:txBody>
          <a:bodyPr wrap="square" lIns="0" tIns="0" rIns="0" bIns="0" rtlCol="0" anchor="ctr"/>
          <a:lstStyle/>
          <a:p>
            <a:pPr marL="0" indent="0">
              <a:lnSpc>
                <a:spcPct val="102000"/>
              </a:lnSpc>
              <a:buNone/>
            </a:pPr>
            <a:r>
              <a:rPr lang="en-US" sz="930" dirty="0">
                <a:solidFill>
                  <a:srgbClr val="64748B"/>
                </a:solidFill>
                <a:latin typeface="Calibri" pitchFamily="34" charset="0"/>
                <a:ea typeface="Calibri" pitchFamily="34" charset="-122"/>
                <a:cs typeface="Calibri" pitchFamily="34" charset="-120"/>
              </a:rPr>
              <a:t>Weight decay helps preventing overfitting, the learning rate is adjusted every batch, not every epoch</a:t>
            </a:r>
          </a:p>
        </p:txBody>
      </p:sp>
      <p:sp>
        <p:nvSpPr>
          <p:cNvPr id="29" name="Shape 22"/>
          <p:cNvSpPr/>
          <p:nvPr/>
        </p:nvSpPr>
        <p:spPr>
          <a:xfrm>
            <a:off x="6080760" y="2971800"/>
            <a:ext cx="2606040" cy="1481328"/>
          </a:xfrm>
          <a:prstGeom prst="roundRect">
            <a:avLst>
              <a:gd name="adj" fmla="val 3704"/>
            </a:avLst>
          </a:prstGeom>
          <a:solidFill>
            <a:srgbClr val="F2F2F2"/>
          </a:solidFill>
          <a:ln/>
        </p:spPr>
        <p:txBody>
          <a:bodyPr/>
          <a:lstStyle/>
          <a:p>
            <a:endParaRPr lang="LID4096"/>
          </a:p>
        </p:txBody>
      </p:sp>
      <p:sp>
        <p:nvSpPr>
          <p:cNvPr id="30" name="Shape 23"/>
          <p:cNvSpPr/>
          <p:nvPr/>
        </p:nvSpPr>
        <p:spPr>
          <a:xfrm>
            <a:off x="6227064" y="3118104"/>
            <a:ext cx="365760" cy="365760"/>
          </a:xfrm>
          <a:prstGeom prst="ellipse">
            <a:avLst/>
          </a:prstGeom>
          <a:solidFill>
            <a:srgbClr val="0D9488"/>
          </a:solidFill>
          <a:ln/>
        </p:spPr>
        <p:txBody>
          <a:bodyPr/>
          <a:lstStyle/>
          <a:p>
            <a:endParaRPr lang="LID4096"/>
          </a:p>
        </p:txBody>
      </p:sp>
      <p:pic>
        <p:nvPicPr>
          <p:cNvPr id="31" name="Image 5" descr="preencoded.png"/>
          <p:cNvPicPr>
            <a:picLocks noChangeAspect="1"/>
          </p:cNvPicPr>
          <p:nvPr/>
        </p:nvPicPr>
        <p:blipFill>
          <a:blip r:embed="rId8"/>
          <a:stretch>
            <a:fillRect/>
          </a:stretch>
        </p:blipFill>
        <p:spPr>
          <a:xfrm>
            <a:off x="6274613" y="3165653"/>
            <a:ext cx="270662" cy="270662"/>
          </a:xfrm>
          <a:prstGeom prst="rect">
            <a:avLst/>
          </a:prstGeom>
        </p:spPr>
      </p:pic>
      <p:sp>
        <p:nvSpPr>
          <p:cNvPr id="32" name="Text 24"/>
          <p:cNvSpPr/>
          <p:nvPr/>
        </p:nvSpPr>
        <p:spPr>
          <a:xfrm>
            <a:off x="6665976" y="3099816"/>
            <a:ext cx="1874520" cy="457200"/>
          </a:xfrm>
          <a:prstGeom prst="rect">
            <a:avLst/>
          </a:prstGeom>
          <a:noFill/>
          <a:ln/>
        </p:spPr>
        <p:txBody>
          <a:bodyPr wrap="square" lIns="0" tIns="0" rIns="0" bIns="0" rtlCol="0" anchor="ctr"/>
          <a:lstStyle/>
          <a:p>
            <a:pPr marL="0" indent="0">
              <a:lnSpc>
                <a:spcPct val="98000"/>
              </a:lnSpc>
              <a:buNone/>
            </a:pPr>
            <a:r>
              <a:rPr lang="en-US" sz="1100" b="1" dirty="0">
                <a:solidFill>
                  <a:srgbClr val="263238"/>
                </a:solidFill>
                <a:latin typeface="Calibri" pitchFamily="34" charset="0"/>
                <a:ea typeface="Calibri" pitchFamily="34" charset="-122"/>
                <a:cs typeface="Calibri" pitchFamily="34" charset="-120"/>
              </a:rPr>
              <a:t>Full dataset, 30 epochs</a:t>
            </a:r>
            <a:endParaRPr lang="en-US" sz="1100" dirty="0"/>
          </a:p>
        </p:txBody>
      </p:sp>
      <p:sp>
        <p:nvSpPr>
          <p:cNvPr id="33" name="Text 25"/>
          <p:cNvSpPr/>
          <p:nvPr/>
        </p:nvSpPr>
        <p:spPr>
          <a:xfrm>
            <a:off x="6227064" y="3575304"/>
            <a:ext cx="2313432" cy="804672"/>
          </a:xfrm>
          <a:prstGeom prst="rect">
            <a:avLst/>
          </a:prstGeom>
          <a:noFill/>
          <a:ln/>
        </p:spPr>
        <p:txBody>
          <a:bodyPr wrap="square" lIns="0" tIns="0" rIns="0" bIns="0" rtlCol="0" anchor="ctr"/>
          <a:lstStyle/>
          <a:p>
            <a:pPr marL="0" indent="0">
              <a:lnSpc>
                <a:spcPct val="102000"/>
              </a:lnSpc>
              <a:buNone/>
            </a:pPr>
            <a:r>
              <a:rPr lang="en-US" sz="930" dirty="0">
                <a:solidFill>
                  <a:srgbClr val="64748B"/>
                </a:solidFill>
                <a:latin typeface="Calibri" pitchFamily="34" charset="0"/>
                <a:ea typeface="Calibri" pitchFamily="34" charset="-122"/>
                <a:cs typeface="Calibri" pitchFamily="34" charset="-120"/>
              </a:rPr>
              <a:t>Full training dataset, without limit for 25 epochs.</a:t>
            </a:r>
            <a:endParaRPr lang="en-US" sz="930" dirty="0"/>
          </a:p>
        </p:txBody>
      </p:sp>
      <p:sp>
        <p:nvSpPr>
          <p:cNvPr id="34" name="Text 26"/>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0D9488"/>
                </a:solidFill>
                <a:latin typeface="Calibri" pitchFamily="34" charset="0"/>
                <a:ea typeface="Calibri" pitchFamily="34" charset="-122"/>
                <a:cs typeface="Calibri" pitchFamily="34" charset="-120"/>
              </a:rPr>
              <a:t>CRITICAL EVALUATION FIXES</a:t>
            </a:r>
            <a:endParaRPr lang="en-US" sz="1250" dirty="0"/>
          </a:p>
        </p:txBody>
      </p:sp>
      <p:sp>
        <p:nvSpPr>
          <p:cNvPr id="3" name="Text 1"/>
          <p:cNvSpPr/>
          <p:nvPr/>
        </p:nvSpPr>
        <p:spPr>
          <a:xfrm>
            <a:off x="502920" y="548640"/>
            <a:ext cx="8138160" cy="594360"/>
          </a:xfrm>
          <a:prstGeom prst="rect">
            <a:avLst/>
          </a:prstGeom>
          <a:noFill/>
          <a:ln/>
        </p:spPr>
        <p:txBody>
          <a:bodyPr wrap="square" lIns="0" tIns="0" rIns="0" bIns="0" rtlCol="0" anchor="ctr"/>
          <a:lstStyle/>
          <a:p>
            <a:pPr marL="0" indent="0">
              <a:buNone/>
            </a:pPr>
            <a:r>
              <a:rPr lang="en-US" sz="2400" b="1" dirty="0">
                <a:solidFill>
                  <a:srgbClr val="263238"/>
                </a:solidFill>
                <a:latin typeface="Cambria" pitchFamily="34" charset="0"/>
                <a:ea typeface="Cambria" pitchFamily="34" charset="-122"/>
                <a:cs typeface="Cambria" pitchFamily="34" charset="-120"/>
              </a:rPr>
              <a:t>Three Silent Bugs in the Starter Evaluation Notebook</a:t>
            </a:r>
            <a:endParaRPr lang="en-US" sz="2400" dirty="0"/>
          </a:p>
        </p:txBody>
      </p:sp>
      <p:sp>
        <p:nvSpPr>
          <p:cNvPr id="5" name="Shape 3"/>
          <p:cNvSpPr/>
          <p:nvPr/>
        </p:nvSpPr>
        <p:spPr>
          <a:xfrm>
            <a:off x="502920" y="1554480"/>
            <a:ext cx="3931920" cy="1481328"/>
          </a:xfrm>
          <a:prstGeom prst="roundRect">
            <a:avLst>
              <a:gd name="adj" fmla="val 4321"/>
            </a:avLst>
          </a:prstGeom>
          <a:solidFill>
            <a:srgbClr val="F2F2F2"/>
          </a:solidFill>
          <a:ln/>
        </p:spPr>
        <p:txBody>
          <a:bodyPr/>
          <a:lstStyle/>
          <a:p>
            <a:endParaRPr lang="LID4096"/>
          </a:p>
        </p:txBody>
      </p:sp>
      <p:sp>
        <p:nvSpPr>
          <p:cNvPr id="6" name="Shape 4"/>
          <p:cNvSpPr/>
          <p:nvPr/>
        </p:nvSpPr>
        <p:spPr>
          <a:xfrm>
            <a:off x="667512" y="1719072"/>
            <a:ext cx="384048" cy="384048"/>
          </a:xfrm>
          <a:prstGeom prst="ellipse">
            <a:avLst/>
          </a:prstGeom>
          <a:solidFill>
            <a:srgbClr val="FBE9E7"/>
          </a:solidFill>
          <a:ln/>
        </p:spPr>
        <p:txBody>
          <a:bodyPr/>
          <a:lstStyle/>
          <a:p>
            <a:endParaRPr lang="LID4096"/>
          </a:p>
        </p:txBody>
      </p:sp>
      <p:pic>
        <p:nvPicPr>
          <p:cNvPr id="7" name="Image 0" descr="preencoded.png"/>
          <p:cNvPicPr>
            <a:picLocks noChangeAspect="1"/>
          </p:cNvPicPr>
          <p:nvPr/>
        </p:nvPicPr>
        <p:blipFill>
          <a:blip r:embed="rId3"/>
          <a:stretch>
            <a:fillRect/>
          </a:stretch>
        </p:blipFill>
        <p:spPr>
          <a:xfrm>
            <a:off x="717438" y="1768998"/>
            <a:ext cx="284196" cy="284196"/>
          </a:xfrm>
          <a:prstGeom prst="rect">
            <a:avLst/>
          </a:prstGeom>
        </p:spPr>
      </p:pic>
      <p:sp>
        <p:nvSpPr>
          <p:cNvPr id="8" name="Text 5"/>
          <p:cNvSpPr/>
          <p:nvPr/>
        </p:nvSpPr>
        <p:spPr>
          <a:xfrm>
            <a:off x="1143000" y="1700784"/>
            <a:ext cx="3108960" cy="457200"/>
          </a:xfrm>
          <a:prstGeom prst="rect">
            <a:avLst/>
          </a:prstGeom>
          <a:noFill/>
          <a:ln/>
        </p:spPr>
        <p:txBody>
          <a:bodyPr wrap="square" lIns="0" tIns="0" rIns="0" bIns="0" rtlCol="0" anchor="ctr"/>
          <a:lstStyle/>
          <a:p>
            <a:pPr marL="0" indent="0">
              <a:lnSpc>
                <a:spcPct val="100000"/>
              </a:lnSpc>
              <a:buNone/>
            </a:pPr>
            <a:r>
              <a:rPr lang="en-US" sz="1150" b="1" dirty="0">
                <a:solidFill>
                  <a:srgbClr val="263238"/>
                </a:solidFill>
                <a:latin typeface="Calibri" pitchFamily="34" charset="0"/>
                <a:ea typeface="Calibri" pitchFamily="34" charset="-122"/>
                <a:cs typeface="Calibri" pitchFamily="34" charset="-120"/>
              </a:rPr>
              <a:t>Issue 1: No ROI cropping at evaluation</a:t>
            </a:r>
            <a:endParaRPr lang="en-US" sz="1150" dirty="0"/>
          </a:p>
        </p:txBody>
      </p:sp>
      <p:sp>
        <p:nvSpPr>
          <p:cNvPr id="9" name="Text 6"/>
          <p:cNvSpPr/>
          <p:nvPr/>
        </p:nvSpPr>
        <p:spPr>
          <a:xfrm>
            <a:off x="667512" y="2194560"/>
            <a:ext cx="3602736" cy="749808"/>
          </a:xfrm>
          <a:prstGeom prst="rect">
            <a:avLst/>
          </a:prstGeom>
          <a:noFill/>
          <a:ln/>
        </p:spPr>
        <p:txBody>
          <a:bodyPr wrap="square" lIns="0" tIns="0" rIns="0" bIns="0" rtlCol="0" anchor="ctr"/>
          <a:lstStyle/>
          <a:p>
            <a:pPr marL="0" indent="0">
              <a:lnSpc>
                <a:spcPct val="108000"/>
              </a:lnSpc>
              <a:buNone/>
            </a:pPr>
            <a:r>
              <a:rPr lang="en-US" sz="980" dirty="0">
                <a:solidFill>
                  <a:srgbClr val="64748B"/>
                </a:solidFill>
                <a:latin typeface="Calibri" pitchFamily="34" charset="0"/>
                <a:ea typeface="Calibri" pitchFamily="34" charset="-122"/>
                <a:cs typeface="Calibri" pitchFamily="34" charset="-120"/>
              </a:rPr>
              <a:t>Model trained on cropped bottle images, but evaluation resized the full uncropped image.</a:t>
            </a:r>
            <a:endParaRPr lang="en-US" sz="980" dirty="0"/>
          </a:p>
        </p:txBody>
      </p:sp>
      <p:sp>
        <p:nvSpPr>
          <p:cNvPr id="15" name="Shape 11"/>
          <p:cNvSpPr/>
          <p:nvPr/>
        </p:nvSpPr>
        <p:spPr>
          <a:xfrm>
            <a:off x="4873752" y="1554480"/>
            <a:ext cx="3931920" cy="1481328"/>
          </a:xfrm>
          <a:prstGeom prst="roundRect">
            <a:avLst>
              <a:gd name="adj" fmla="val 4321"/>
            </a:avLst>
          </a:prstGeom>
          <a:solidFill>
            <a:srgbClr val="F2F2F2"/>
          </a:solidFill>
          <a:ln/>
        </p:spPr>
        <p:txBody>
          <a:bodyPr/>
          <a:lstStyle/>
          <a:p>
            <a:endParaRPr lang="LID4096"/>
          </a:p>
        </p:txBody>
      </p:sp>
      <p:sp>
        <p:nvSpPr>
          <p:cNvPr id="16" name="Shape 12"/>
          <p:cNvSpPr/>
          <p:nvPr/>
        </p:nvSpPr>
        <p:spPr>
          <a:xfrm>
            <a:off x="5038344" y="1719072"/>
            <a:ext cx="384048" cy="384048"/>
          </a:xfrm>
          <a:prstGeom prst="ellipse">
            <a:avLst/>
          </a:prstGeom>
          <a:solidFill>
            <a:srgbClr val="FBE9E7"/>
          </a:solidFill>
          <a:ln/>
        </p:spPr>
        <p:txBody>
          <a:bodyPr/>
          <a:lstStyle/>
          <a:p>
            <a:endParaRPr lang="LID4096"/>
          </a:p>
        </p:txBody>
      </p:sp>
      <p:pic>
        <p:nvPicPr>
          <p:cNvPr id="17" name="Image 2" descr="preencoded.png"/>
          <p:cNvPicPr>
            <a:picLocks noChangeAspect="1"/>
          </p:cNvPicPr>
          <p:nvPr/>
        </p:nvPicPr>
        <p:blipFill>
          <a:blip r:embed="rId3"/>
          <a:stretch>
            <a:fillRect/>
          </a:stretch>
        </p:blipFill>
        <p:spPr>
          <a:xfrm>
            <a:off x="5088270" y="1768998"/>
            <a:ext cx="284196" cy="284196"/>
          </a:xfrm>
          <a:prstGeom prst="rect">
            <a:avLst/>
          </a:prstGeom>
        </p:spPr>
      </p:pic>
      <p:sp>
        <p:nvSpPr>
          <p:cNvPr id="18" name="Text 13"/>
          <p:cNvSpPr/>
          <p:nvPr/>
        </p:nvSpPr>
        <p:spPr>
          <a:xfrm>
            <a:off x="5513832" y="1700784"/>
            <a:ext cx="3108960" cy="457200"/>
          </a:xfrm>
          <a:prstGeom prst="rect">
            <a:avLst/>
          </a:prstGeom>
          <a:noFill/>
          <a:ln/>
        </p:spPr>
        <p:txBody>
          <a:bodyPr wrap="square" lIns="0" tIns="0" rIns="0" bIns="0" rtlCol="0" anchor="ctr"/>
          <a:lstStyle/>
          <a:p>
            <a:pPr marL="0" indent="0">
              <a:lnSpc>
                <a:spcPct val="100000"/>
              </a:lnSpc>
              <a:buNone/>
            </a:pPr>
            <a:r>
              <a:rPr lang="en-US" sz="1150" b="1" dirty="0">
                <a:solidFill>
                  <a:srgbClr val="263238"/>
                </a:solidFill>
                <a:latin typeface="Calibri" pitchFamily="34" charset="0"/>
                <a:ea typeface="Calibri" pitchFamily="34" charset="-122"/>
                <a:cs typeface="Calibri" pitchFamily="34" charset="-120"/>
              </a:rPr>
              <a:t>Issue 2: ONNX float64 vs float32</a:t>
            </a:r>
            <a:endParaRPr lang="en-US" sz="1150" dirty="0"/>
          </a:p>
        </p:txBody>
      </p:sp>
      <p:sp>
        <p:nvSpPr>
          <p:cNvPr id="19" name="Text 14"/>
          <p:cNvSpPr/>
          <p:nvPr/>
        </p:nvSpPr>
        <p:spPr>
          <a:xfrm>
            <a:off x="5038344" y="2194560"/>
            <a:ext cx="3602736" cy="749808"/>
          </a:xfrm>
          <a:prstGeom prst="rect">
            <a:avLst/>
          </a:prstGeom>
          <a:noFill/>
          <a:ln/>
        </p:spPr>
        <p:txBody>
          <a:bodyPr wrap="square" lIns="0" tIns="0" rIns="0" bIns="0" rtlCol="0" anchor="ctr"/>
          <a:lstStyle/>
          <a:p>
            <a:pPr marL="0" indent="0">
              <a:lnSpc>
                <a:spcPct val="108000"/>
              </a:lnSpc>
              <a:buNone/>
            </a:pPr>
            <a:r>
              <a:rPr lang="en-US" sz="980" dirty="0">
                <a:solidFill>
                  <a:srgbClr val="64748B"/>
                </a:solidFill>
                <a:latin typeface="Calibri" pitchFamily="34" charset="0"/>
                <a:ea typeface="Calibri" pitchFamily="34" charset="-122"/>
                <a:cs typeface="Calibri" pitchFamily="34" charset="-120"/>
              </a:rPr>
              <a:t>ONNX Runtime needs float32 inputs, but NumPy defaults to float64. </a:t>
            </a:r>
            <a:endParaRPr lang="en-US" sz="980" dirty="0"/>
          </a:p>
        </p:txBody>
      </p:sp>
      <p:sp>
        <p:nvSpPr>
          <p:cNvPr id="20" name="Shape 15"/>
          <p:cNvSpPr/>
          <p:nvPr/>
        </p:nvSpPr>
        <p:spPr>
          <a:xfrm>
            <a:off x="2743200" y="3364992"/>
            <a:ext cx="3931920" cy="1481328"/>
          </a:xfrm>
          <a:prstGeom prst="roundRect">
            <a:avLst>
              <a:gd name="adj" fmla="val 4321"/>
            </a:avLst>
          </a:prstGeom>
          <a:solidFill>
            <a:srgbClr val="F2F2F2"/>
          </a:solidFill>
          <a:ln/>
        </p:spPr>
        <p:txBody>
          <a:bodyPr/>
          <a:lstStyle/>
          <a:p>
            <a:endParaRPr lang="LID4096"/>
          </a:p>
        </p:txBody>
      </p:sp>
      <p:sp>
        <p:nvSpPr>
          <p:cNvPr id="21" name="Shape 16"/>
          <p:cNvSpPr/>
          <p:nvPr/>
        </p:nvSpPr>
        <p:spPr>
          <a:xfrm>
            <a:off x="2907792" y="3529584"/>
            <a:ext cx="384048" cy="384048"/>
          </a:xfrm>
          <a:prstGeom prst="ellipse">
            <a:avLst/>
          </a:prstGeom>
          <a:solidFill>
            <a:srgbClr val="FBE9E7"/>
          </a:solidFill>
          <a:ln/>
        </p:spPr>
        <p:txBody>
          <a:bodyPr/>
          <a:lstStyle/>
          <a:p>
            <a:endParaRPr lang="LID4096"/>
          </a:p>
        </p:txBody>
      </p:sp>
      <p:pic>
        <p:nvPicPr>
          <p:cNvPr id="22" name="Image 3" descr="preencoded.png"/>
          <p:cNvPicPr>
            <a:picLocks noChangeAspect="1"/>
          </p:cNvPicPr>
          <p:nvPr/>
        </p:nvPicPr>
        <p:blipFill>
          <a:blip r:embed="rId3"/>
          <a:stretch>
            <a:fillRect/>
          </a:stretch>
        </p:blipFill>
        <p:spPr>
          <a:xfrm>
            <a:off x="2957718" y="3579510"/>
            <a:ext cx="284196" cy="284196"/>
          </a:xfrm>
          <a:prstGeom prst="rect">
            <a:avLst/>
          </a:prstGeom>
        </p:spPr>
      </p:pic>
      <p:sp>
        <p:nvSpPr>
          <p:cNvPr id="23" name="Text 17"/>
          <p:cNvSpPr/>
          <p:nvPr/>
        </p:nvSpPr>
        <p:spPr>
          <a:xfrm>
            <a:off x="3383280" y="3511296"/>
            <a:ext cx="3108960" cy="457200"/>
          </a:xfrm>
          <a:prstGeom prst="rect">
            <a:avLst/>
          </a:prstGeom>
          <a:noFill/>
          <a:ln/>
        </p:spPr>
        <p:txBody>
          <a:bodyPr wrap="square" lIns="0" tIns="0" rIns="0" bIns="0" rtlCol="0" anchor="ctr"/>
          <a:lstStyle/>
          <a:p>
            <a:pPr marL="0" indent="0">
              <a:lnSpc>
                <a:spcPct val="100000"/>
              </a:lnSpc>
              <a:buNone/>
            </a:pPr>
            <a:r>
              <a:rPr lang="en-US" sz="1150" b="1" dirty="0">
                <a:solidFill>
                  <a:srgbClr val="263238"/>
                </a:solidFill>
                <a:latin typeface="Calibri" pitchFamily="34" charset="0"/>
                <a:ea typeface="Calibri" pitchFamily="34" charset="-122"/>
                <a:cs typeface="Calibri" pitchFamily="34" charset="-120"/>
              </a:rPr>
              <a:t>Issue 3: Threshold at 0.50</a:t>
            </a:r>
            <a:endParaRPr lang="en-US" sz="1150" dirty="0"/>
          </a:p>
        </p:txBody>
      </p:sp>
      <p:sp>
        <p:nvSpPr>
          <p:cNvPr id="24" name="Text 18"/>
          <p:cNvSpPr/>
          <p:nvPr/>
        </p:nvSpPr>
        <p:spPr>
          <a:xfrm>
            <a:off x="2907792" y="4005072"/>
            <a:ext cx="3602736" cy="749808"/>
          </a:xfrm>
          <a:prstGeom prst="rect">
            <a:avLst/>
          </a:prstGeom>
          <a:noFill/>
          <a:ln/>
        </p:spPr>
        <p:txBody>
          <a:bodyPr wrap="square" lIns="0" tIns="0" rIns="0" bIns="0" rtlCol="0" anchor="ctr"/>
          <a:lstStyle/>
          <a:p>
            <a:pPr marL="0" indent="0">
              <a:lnSpc>
                <a:spcPct val="108000"/>
              </a:lnSpc>
              <a:buNone/>
            </a:pPr>
            <a:r>
              <a:rPr lang="en-US" sz="980" dirty="0">
                <a:solidFill>
                  <a:srgbClr val="64748B"/>
                </a:solidFill>
                <a:latin typeface="Calibri" pitchFamily="34" charset="0"/>
                <a:ea typeface="Calibri" pitchFamily="34" charset="-122"/>
                <a:cs typeface="Calibri" pitchFamily="34" charset="-120"/>
              </a:rPr>
              <a:t>Weighted loss made the model lean towards predicting defects.</a:t>
            </a:r>
            <a:endParaRPr lang="en-US" sz="980" dirty="0"/>
          </a:p>
        </p:txBody>
      </p:sp>
      <p:sp>
        <p:nvSpPr>
          <p:cNvPr id="25" name="Text 19"/>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0D9488"/>
                </a:solidFill>
                <a:latin typeface="Calibri" pitchFamily="34" charset="0"/>
                <a:ea typeface="Calibri" pitchFamily="34" charset="-122"/>
                <a:cs typeface="Calibri" pitchFamily="34" charset="-120"/>
              </a:rPr>
              <a:t>PROGRESS &amp; COMPETITION RESULTS</a:t>
            </a:r>
            <a:endParaRPr lang="en-US" sz="1250" dirty="0"/>
          </a:p>
        </p:txBody>
      </p:sp>
      <p:sp>
        <p:nvSpPr>
          <p:cNvPr id="3" name="Text 1"/>
          <p:cNvSpPr/>
          <p:nvPr/>
        </p:nvSpPr>
        <p:spPr>
          <a:xfrm>
            <a:off x="502920" y="566928"/>
            <a:ext cx="8138160" cy="594360"/>
          </a:xfrm>
          <a:prstGeom prst="rect">
            <a:avLst/>
          </a:prstGeom>
          <a:noFill/>
          <a:ln/>
        </p:spPr>
        <p:txBody>
          <a:bodyPr wrap="square" lIns="0" tIns="0" rIns="0" bIns="0"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Final F1: 0.9671 — 15th of 40 Teams (Private)</a:t>
            </a:r>
            <a:endParaRPr lang="en-US" sz="2700" dirty="0"/>
          </a:p>
        </p:txBody>
      </p:sp>
      <p:sp>
        <p:nvSpPr>
          <p:cNvPr id="4" name="Shape 2"/>
          <p:cNvSpPr/>
          <p:nvPr/>
        </p:nvSpPr>
        <p:spPr>
          <a:xfrm>
            <a:off x="1405128" y="1426464"/>
            <a:ext cx="1536192" cy="1051560"/>
          </a:xfrm>
          <a:prstGeom prst="roundRect">
            <a:avLst>
              <a:gd name="adj" fmla="val 6087"/>
            </a:avLst>
          </a:prstGeom>
          <a:solidFill>
            <a:srgbClr val="0D9488"/>
          </a:solidFill>
          <a:ln/>
        </p:spPr>
        <p:txBody>
          <a:bodyPr/>
          <a:lstStyle/>
          <a:p>
            <a:endParaRPr lang="LID4096"/>
          </a:p>
        </p:txBody>
      </p:sp>
      <p:sp>
        <p:nvSpPr>
          <p:cNvPr id="5" name="Text 3"/>
          <p:cNvSpPr/>
          <p:nvPr/>
        </p:nvSpPr>
        <p:spPr>
          <a:xfrm>
            <a:off x="1405128" y="1536192"/>
            <a:ext cx="1536192" cy="530352"/>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0.9671</a:t>
            </a:r>
            <a:endParaRPr lang="en-US" sz="2100" dirty="0"/>
          </a:p>
        </p:txBody>
      </p:sp>
      <p:sp>
        <p:nvSpPr>
          <p:cNvPr id="6" name="Text 4"/>
          <p:cNvSpPr/>
          <p:nvPr/>
        </p:nvSpPr>
        <p:spPr>
          <a:xfrm>
            <a:off x="1405128" y="2084832"/>
            <a:ext cx="1536192" cy="365760"/>
          </a:xfrm>
          <a:prstGeom prst="rect">
            <a:avLst/>
          </a:prstGeom>
          <a:noFill/>
          <a:ln/>
        </p:spPr>
        <p:txBody>
          <a:bodyPr wrap="square" lIns="0" tIns="0" rIns="0" bIns="0" rtlCol="0" anchor="ctr"/>
          <a:lstStyle/>
          <a:p>
            <a:pPr marL="0" indent="0" algn="ctr">
              <a:lnSpc>
                <a:spcPct val="95000"/>
              </a:lnSpc>
              <a:buNone/>
            </a:pPr>
            <a:r>
              <a:rPr lang="en-US" sz="900" dirty="0">
                <a:solidFill>
                  <a:srgbClr val="DFFCF7"/>
                </a:solidFill>
                <a:latin typeface="Calibri" pitchFamily="34" charset="0"/>
                <a:ea typeface="Calibri" pitchFamily="34" charset="-122"/>
                <a:cs typeface="Calibri" pitchFamily="34" charset="-120"/>
              </a:rPr>
              <a:t>Final private F1</a:t>
            </a:r>
            <a:endParaRPr lang="en-US" sz="900" dirty="0"/>
          </a:p>
        </p:txBody>
      </p:sp>
      <p:sp>
        <p:nvSpPr>
          <p:cNvPr id="7" name="Shape 5"/>
          <p:cNvSpPr/>
          <p:nvPr/>
        </p:nvSpPr>
        <p:spPr>
          <a:xfrm>
            <a:off x="3032760" y="1426464"/>
            <a:ext cx="1536192" cy="1051560"/>
          </a:xfrm>
          <a:prstGeom prst="roundRect">
            <a:avLst>
              <a:gd name="adj" fmla="val 6087"/>
            </a:avLst>
          </a:prstGeom>
          <a:solidFill>
            <a:srgbClr val="E6F6F4"/>
          </a:solidFill>
          <a:ln/>
        </p:spPr>
        <p:txBody>
          <a:bodyPr/>
          <a:lstStyle/>
          <a:p>
            <a:endParaRPr lang="LID4096"/>
          </a:p>
        </p:txBody>
      </p:sp>
      <p:sp>
        <p:nvSpPr>
          <p:cNvPr id="8" name="Text 6"/>
          <p:cNvSpPr/>
          <p:nvPr/>
        </p:nvSpPr>
        <p:spPr>
          <a:xfrm>
            <a:off x="3032760" y="1536192"/>
            <a:ext cx="1536192" cy="530352"/>
          </a:xfrm>
          <a:prstGeom prst="rect">
            <a:avLst/>
          </a:prstGeom>
          <a:noFill/>
          <a:ln/>
        </p:spPr>
        <p:txBody>
          <a:bodyPr wrap="square" lIns="0" tIns="0" rIns="0" bIns="0" rtlCol="0" anchor="ctr"/>
          <a:lstStyle/>
          <a:p>
            <a:pPr marL="0" indent="0" algn="ctr">
              <a:buNone/>
            </a:pPr>
            <a:r>
              <a:rPr lang="en-US" sz="2100" b="1" dirty="0">
                <a:solidFill>
                  <a:srgbClr val="0D9488"/>
                </a:solidFill>
                <a:latin typeface="Cambria" pitchFamily="34" charset="0"/>
                <a:ea typeface="Cambria" pitchFamily="34" charset="-122"/>
                <a:cs typeface="Cambria" pitchFamily="34" charset="-120"/>
              </a:rPr>
              <a:t>19th</a:t>
            </a:r>
            <a:endParaRPr lang="en-US" sz="2100" dirty="0"/>
          </a:p>
        </p:txBody>
      </p:sp>
      <p:sp>
        <p:nvSpPr>
          <p:cNvPr id="9" name="Text 7"/>
          <p:cNvSpPr/>
          <p:nvPr/>
        </p:nvSpPr>
        <p:spPr>
          <a:xfrm>
            <a:off x="3032760" y="2084832"/>
            <a:ext cx="1536192" cy="365760"/>
          </a:xfrm>
          <a:prstGeom prst="rect">
            <a:avLst/>
          </a:prstGeom>
          <a:noFill/>
          <a:ln/>
        </p:spPr>
        <p:txBody>
          <a:bodyPr wrap="square" lIns="0" tIns="0" rIns="0" bIns="0" rtlCol="0" anchor="ctr"/>
          <a:lstStyle/>
          <a:p>
            <a:pPr marL="0" indent="0" algn="ctr">
              <a:lnSpc>
                <a:spcPct val="95000"/>
              </a:lnSpc>
              <a:buNone/>
            </a:pPr>
            <a:r>
              <a:rPr lang="en-US" sz="900" dirty="0">
                <a:solidFill>
                  <a:srgbClr val="64748B"/>
                </a:solidFill>
                <a:latin typeface="Calibri" pitchFamily="34" charset="0"/>
                <a:ea typeface="Calibri" pitchFamily="34" charset="-122"/>
                <a:cs typeface="Calibri" pitchFamily="34" charset="-120"/>
              </a:rPr>
              <a:t>Public leaderboard</a:t>
            </a:r>
            <a:endParaRPr lang="en-US" sz="900" dirty="0"/>
          </a:p>
        </p:txBody>
      </p:sp>
      <p:sp>
        <p:nvSpPr>
          <p:cNvPr id="10" name="Shape 8"/>
          <p:cNvSpPr/>
          <p:nvPr/>
        </p:nvSpPr>
        <p:spPr>
          <a:xfrm>
            <a:off x="4660392" y="1426464"/>
            <a:ext cx="1536192" cy="1051560"/>
          </a:xfrm>
          <a:prstGeom prst="roundRect">
            <a:avLst>
              <a:gd name="adj" fmla="val 6087"/>
            </a:avLst>
          </a:prstGeom>
          <a:solidFill>
            <a:srgbClr val="E6F6F4"/>
          </a:solidFill>
          <a:ln/>
        </p:spPr>
        <p:txBody>
          <a:bodyPr/>
          <a:lstStyle/>
          <a:p>
            <a:endParaRPr lang="LID4096"/>
          </a:p>
        </p:txBody>
      </p:sp>
      <p:sp>
        <p:nvSpPr>
          <p:cNvPr id="11" name="Text 9"/>
          <p:cNvSpPr/>
          <p:nvPr/>
        </p:nvSpPr>
        <p:spPr>
          <a:xfrm>
            <a:off x="4660392" y="1536192"/>
            <a:ext cx="1536192" cy="530352"/>
          </a:xfrm>
          <a:prstGeom prst="rect">
            <a:avLst/>
          </a:prstGeom>
          <a:noFill/>
          <a:ln/>
        </p:spPr>
        <p:txBody>
          <a:bodyPr wrap="square" lIns="0" tIns="0" rIns="0" bIns="0" rtlCol="0" anchor="ctr"/>
          <a:lstStyle/>
          <a:p>
            <a:pPr marL="0" indent="0" algn="ctr">
              <a:buNone/>
            </a:pPr>
            <a:r>
              <a:rPr lang="en-US" sz="2100" b="1" dirty="0">
                <a:solidFill>
                  <a:srgbClr val="0D9488"/>
                </a:solidFill>
                <a:latin typeface="Cambria" pitchFamily="34" charset="0"/>
                <a:ea typeface="Cambria" pitchFamily="34" charset="-122"/>
                <a:cs typeface="Cambria" pitchFamily="34" charset="-120"/>
              </a:rPr>
              <a:t>15th</a:t>
            </a:r>
            <a:endParaRPr lang="en-US" sz="2100" dirty="0"/>
          </a:p>
        </p:txBody>
      </p:sp>
      <p:sp>
        <p:nvSpPr>
          <p:cNvPr id="12" name="Text 10"/>
          <p:cNvSpPr/>
          <p:nvPr/>
        </p:nvSpPr>
        <p:spPr>
          <a:xfrm>
            <a:off x="4660392" y="2084832"/>
            <a:ext cx="1536192" cy="365760"/>
          </a:xfrm>
          <a:prstGeom prst="rect">
            <a:avLst/>
          </a:prstGeom>
          <a:noFill/>
          <a:ln/>
        </p:spPr>
        <p:txBody>
          <a:bodyPr wrap="square" lIns="0" tIns="0" rIns="0" bIns="0" rtlCol="0" anchor="ctr"/>
          <a:lstStyle/>
          <a:p>
            <a:pPr marL="0" indent="0" algn="ctr">
              <a:lnSpc>
                <a:spcPct val="95000"/>
              </a:lnSpc>
              <a:buNone/>
            </a:pPr>
            <a:r>
              <a:rPr lang="en-US" sz="900" dirty="0">
                <a:solidFill>
                  <a:srgbClr val="64748B"/>
                </a:solidFill>
                <a:latin typeface="Calibri" pitchFamily="34" charset="0"/>
                <a:ea typeface="Calibri" pitchFamily="34" charset="-122"/>
                <a:cs typeface="Calibri" pitchFamily="34" charset="-120"/>
              </a:rPr>
              <a:t>Private leaderboard</a:t>
            </a:r>
            <a:endParaRPr lang="en-US" sz="900" dirty="0"/>
          </a:p>
        </p:txBody>
      </p:sp>
      <p:sp>
        <p:nvSpPr>
          <p:cNvPr id="13" name="Shape 11"/>
          <p:cNvSpPr/>
          <p:nvPr/>
        </p:nvSpPr>
        <p:spPr>
          <a:xfrm>
            <a:off x="6288024" y="1426464"/>
            <a:ext cx="1536192" cy="1051560"/>
          </a:xfrm>
          <a:prstGeom prst="roundRect">
            <a:avLst>
              <a:gd name="adj" fmla="val 6087"/>
            </a:avLst>
          </a:prstGeom>
          <a:solidFill>
            <a:srgbClr val="E6F6F4"/>
          </a:solidFill>
          <a:ln/>
        </p:spPr>
        <p:txBody>
          <a:bodyPr/>
          <a:lstStyle/>
          <a:p>
            <a:endParaRPr lang="LID4096"/>
          </a:p>
        </p:txBody>
      </p:sp>
      <p:sp>
        <p:nvSpPr>
          <p:cNvPr id="14" name="Text 12"/>
          <p:cNvSpPr/>
          <p:nvPr/>
        </p:nvSpPr>
        <p:spPr>
          <a:xfrm>
            <a:off x="6288024" y="1536192"/>
            <a:ext cx="1536192" cy="530352"/>
          </a:xfrm>
          <a:prstGeom prst="rect">
            <a:avLst/>
          </a:prstGeom>
          <a:noFill/>
          <a:ln/>
        </p:spPr>
        <p:txBody>
          <a:bodyPr wrap="square" lIns="0" tIns="0" rIns="0" bIns="0" rtlCol="0" anchor="ctr"/>
          <a:lstStyle/>
          <a:p>
            <a:pPr marL="0" indent="0" algn="ctr">
              <a:buNone/>
            </a:pPr>
            <a:r>
              <a:rPr lang="en-US" sz="2100" b="1" dirty="0">
                <a:solidFill>
                  <a:srgbClr val="0D9488"/>
                </a:solidFill>
                <a:latin typeface="Cambria" pitchFamily="34" charset="0"/>
                <a:ea typeface="Cambria" pitchFamily="34" charset="-122"/>
                <a:cs typeface="Cambria" pitchFamily="34" charset="-120"/>
              </a:rPr>
              <a:t>0.0034</a:t>
            </a:r>
            <a:endParaRPr lang="en-US" sz="2100" dirty="0"/>
          </a:p>
        </p:txBody>
      </p:sp>
      <p:sp>
        <p:nvSpPr>
          <p:cNvPr id="15" name="Text 13"/>
          <p:cNvSpPr/>
          <p:nvPr/>
        </p:nvSpPr>
        <p:spPr>
          <a:xfrm>
            <a:off x="6288024" y="2084832"/>
            <a:ext cx="1536192" cy="365760"/>
          </a:xfrm>
          <a:prstGeom prst="rect">
            <a:avLst/>
          </a:prstGeom>
          <a:noFill/>
          <a:ln/>
        </p:spPr>
        <p:txBody>
          <a:bodyPr wrap="square" lIns="0" tIns="0" rIns="0" bIns="0" rtlCol="0" anchor="ctr"/>
          <a:lstStyle/>
          <a:p>
            <a:pPr marL="0" indent="0" algn="ctr">
              <a:lnSpc>
                <a:spcPct val="95000"/>
              </a:lnSpc>
              <a:buNone/>
            </a:pPr>
            <a:r>
              <a:rPr lang="en-US" sz="900" dirty="0">
                <a:solidFill>
                  <a:srgbClr val="64748B"/>
                </a:solidFill>
                <a:latin typeface="Calibri" pitchFamily="34" charset="0"/>
                <a:ea typeface="Calibri" pitchFamily="34" charset="-122"/>
                <a:cs typeface="Calibri" pitchFamily="34" charset="-120"/>
              </a:rPr>
              <a:t>F1 gap from 1st place</a:t>
            </a:r>
            <a:endParaRPr lang="en-US" sz="900" dirty="0"/>
          </a:p>
        </p:txBody>
      </p:sp>
      <p:sp>
        <p:nvSpPr>
          <p:cNvPr id="19" name="Shape 17"/>
          <p:cNvSpPr/>
          <p:nvPr/>
        </p:nvSpPr>
        <p:spPr>
          <a:xfrm>
            <a:off x="502920" y="2743200"/>
            <a:ext cx="8138160" cy="1554480"/>
          </a:xfrm>
          <a:prstGeom prst="roundRect">
            <a:avLst>
              <a:gd name="adj" fmla="val 3415"/>
            </a:avLst>
          </a:prstGeom>
          <a:solidFill>
            <a:srgbClr val="F2F2F2"/>
          </a:solidFill>
          <a:ln/>
        </p:spPr>
        <p:txBody>
          <a:bodyPr/>
          <a:lstStyle/>
          <a:p>
            <a:endParaRPr lang="LID4096"/>
          </a:p>
        </p:txBody>
      </p:sp>
      <p:sp>
        <p:nvSpPr>
          <p:cNvPr id="20" name="Text 18"/>
          <p:cNvSpPr/>
          <p:nvPr/>
        </p:nvSpPr>
        <p:spPr>
          <a:xfrm>
            <a:off x="713232" y="2907792"/>
            <a:ext cx="7680960" cy="320040"/>
          </a:xfrm>
          <a:prstGeom prst="rect">
            <a:avLst/>
          </a:prstGeom>
          <a:noFill/>
          <a:ln/>
        </p:spPr>
        <p:txBody>
          <a:bodyPr wrap="square" lIns="0" tIns="0" rIns="0" bIns="0" rtlCol="0" anchor="ctr"/>
          <a:lstStyle/>
          <a:p>
            <a:pPr marL="0" indent="0">
              <a:buNone/>
            </a:pPr>
            <a:r>
              <a:rPr lang="en-US" sz="1350" b="1" dirty="0">
                <a:solidFill>
                  <a:srgbClr val="263238"/>
                </a:solidFill>
                <a:latin typeface="Calibri" pitchFamily="34" charset="0"/>
                <a:ea typeface="Calibri" pitchFamily="34" charset="-122"/>
                <a:cs typeface="Calibri" pitchFamily="34" charset="-120"/>
              </a:rPr>
              <a:t>Why we trust this result generalizes</a:t>
            </a:r>
            <a:endParaRPr lang="en-US" sz="1350" dirty="0"/>
          </a:p>
        </p:txBody>
      </p:sp>
      <p:sp>
        <p:nvSpPr>
          <p:cNvPr id="21" name="Text 19"/>
          <p:cNvSpPr/>
          <p:nvPr/>
        </p:nvSpPr>
        <p:spPr>
          <a:xfrm>
            <a:off x="713232" y="3183636"/>
            <a:ext cx="7680960" cy="993648"/>
          </a:xfrm>
          <a:prstGeom prst="rect">
            <a:avLst/>
          </a:prstGeom>
          <a:noFill/>
          <a:ln/>
        </p:spPr>
        <p:txBody>
          <a:bodyPr wrap="square" lIns="0" tIns="0" rIns="0" bIns="0" rtlCol="0" anchor="ctr"/>
          <a:lstStyle/>
          <a:p>
            <a:pPr marL="342900" indent="-342900">
              <a:lnSpc>
                <a:spcPct val="108000"/>
              </a:lnSpc>
              <a:spcAft>
                <a:spcPts val="600"/>
              </a:spcAft>
              <a:buSzPct val="100000"/>
              <a:buChar char="•"/>
            </a:pPr>
            <a:r>
              <a:rPr lang="en-US" sz="1150" dirty="0">
                <a:solidFill>
                  <a:srgbClr val="263238"/>
                </a:solidFill>
                <a:latin typeface="Calibri" pitchFamily="34" charset="0"/>
                <a:ea typeface="Calibri" pitchFamily="34" charset="-122"/>
                <a:cs typeface="Calibri" pitchFamily="34" charset="-120"/>
              </a:rPr>
              <a:t>Public leaderboard used only 30% of test data, but the final private ranking used the hidden 70%.</a:t>
            </a:r>
            <a:endParaRPr lang="en-US" sz="1150" dirty="0"/>
          </a:p>
          <a:p>
            <a:pPr marL="342900" indent="-342900">
              <a:lnSpc>
                <a:spcPct val="108000"/>
              </a:lnSpc>
              <a:buSzPct val="100000"/>
              <a:buChar char="•"/>
            </a:pPr>
            <a:r>
              <a:rPr lang="en-US" sz="1150" dirty="0">
                <a:solidFill>
                  <a:srgbClr val="263238"/>
                </a:solidFill>
                <a:latin typeface="Calibri" pitchFamily="34" charset="0"/>
                <a:ea typeface="Calibri" pitchFamily="34" charset="-122"/>
                <a:cs typeface="Calibri" pitchFamily="34" charset="-120"/>
              </a:rPr>
              <a:t>Our public and private scores stayed close together, and we moved up from 19th to 15th rank. </a:t>
            </a:r>
            <a:r>
              <a:rPr lang="" sz="1200" dirty="0"/>
              <a:t>This shows good generalization to unseen data</a:t>
            </a:r>
            <a:endParaRPr lang="en-US" sz="1150" dirty="0"/>
          </a:p>
        </p:txBody>
      </p:sp>
      <p:sp>
        <p:nvSpPr>
          <p:cNvPr id="22" name="Text 20"/>
          <p:cNvSpPr/>
          <p:nvPr/>
        </p:nvSpPr>
        <p:spPr>
          <a:xfrm>
            <a:off x="8641080" y="4828032"/>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F36"/>
        </a:solidFill>
        <a:effectLst/>
      </p:bgPr>
    </p:bg>
    <p:spTree>
      <p:nvGrpSpPr>
        <p:cNvPr id="1" name=""/>
        <p:cNvGrpSpPr/>
        <p:nvPr/>
      </p:nvGrpSpPr>
      <p:grpSpPr>
        <a:xfrm>
          <a:off x="0" y="0"/>
          <a:ext cx="0" cy="0"/>
          <a:chOff x="0" y="0"/>
          <a:chExt cx="0" cy="0"/>
        </a:xfrm>
      </p:grpSpPr>
      <p:sp>
        <p:nvSpPr>
          <p:cNvPr id="2" name="Text 0"/>
          <p:cNvSpPr/>
          <p:nvPr/>
        </p:nvSpPr>
        <p:spPr>
          <a:xfrm>
            <a:off x="502920" y="292608"/>
            <a:ext cx="7863840" cy="274320"/>
          </a:xfrm>
          <a:prstGeom prst="rect">
            <a:avLst/>
          </a:prstGeom>
          <a:noFill/>
          <a:ln/>
        </p:spPr>
        <p:txBody>
          <a:bodyPr wrap="square" lIns="0" tIns="0" rIns="0" bIns="0" rtlCol="0" anchor="ctr"/>
          <a:lstStyle/>
          <a:p>
            <a:pPr marL="0" indent="0">
              <a:buNone/>
            </a:pPr>
            <a:r>
              <a:rPr lang="en-US" sz="1250" b="1" kern="0" spc="200" dirty="0">
                <a:solidFill>
                  <a:srgbClr val="5EEAD4"/>
                </a:solidFill>
                <a:latin typeface="Calibri" pitchFamily="34" charset="0"/>
                <a:ea typeface="Calibri" pitchFamily="34" charset="-122"/>
                <a:cs typeface="Calibri" pitchFamily="34" charset="-120"/>
              </a:rPr>
              <a:t>LESSONS LEARNED</a:t>
            </a:r>
            <a:endParaRPr lang="en-US" sz="1250" dirty="0"/>
          </a:p>
        </p:txBody>
      </p:sp>
      <p:sp>
        <p:nvSpPr>
          <p:cNvPr id="3" name="Text 1"/>
          <p:cNvSpPr/>
          <p:nvPr/>
        </p:nvSpPr>
        <p:spPr>
          <a:xfrm>
            <a:off x="502920" y="566928"/>
            <a:ext cx="813816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Five Takeaways We'd Carry Into the Next Project</a:t>
            </a:r>
            <a:endParaRPr lang="en-US" sz="2400" dirty="0"/>
          </a:p>
        </p:txBody>
      </p:sp>
      <p:sp>
        <p:nvSpPr>
          <p:cNvPr id="4" name="Shape 2"/>
          <p:cNvSpPr/>
          <p:nvPr/>
        </p:nvSpPr>
        <p:spPr>
          <a:xfrm>
            <a:off x="454152" y="1115568"/>
            <a:ext cx="8138160" cy="749808"/>
          </a:xfrm>
          <a:prstGeom prst="roundRect">
            <a:avLst>
              <a:gd name="adj" fmla="val 7317"/>
            </a:avLst>
          </a:prstGeom>
          <a:solidFill>
            <a:srgbClr val="3D4A53"/>
          </a:solidFill>
          <a:ln/>
        </p:spPr>
        <p:txBody>
          <a:bodyPr/>
          <a:lstStyle/>
          <a:p>
            <a:endParaRPr lang="LID4096"/>
          </a:p>
        </p:txBody>
      </p:sp>
      <p:sp>
        <p:nvSpPr>
          <p:cNvPr id="5" name="Shape 3"/>
          <p:cNvSpPr/>
          <p:nvPr/>
        </p:nvSpPr>
        <p:spPr>
          <a:xfrm>
            <a:off x="618744" y="1280160"/>
            <a:ext cx="420624" cy="420624"/>
          </a:xfrm>
          <a:prstGeom prst="ellipse">
            <a:avLst/>
          </a:prstGeom>
          <a:solidFill>
            <a:srgbClr val="0D9488"/>
          </a:solidFill>
          <a:ln/>
        </p:spPr>
        <p:txBody>
          <a:bodyPr/>
          <a:lstStyle/>
          <a:p>
            <a:endParaRPr lang="LID4096"/>
          </a:p>
        </p:txBody>
      </p:sp>
      <p:pic>
        <p:nvPicPr>
          <p:cNvPr id="6" name="Image 0" descr="preencoded.png"/>
          <p:cNvPicPr>
            <a:picLocks noChangeAspect="1"/>
          </p:cNvPicPr>
          <p:nvPr/>
        </p:nvPicPr>
        <p:blipFill>
          <a:blip r:embed="rId3"/>
          <a:stretch>
            <a:fillRect/>
          </a:stretch>
        </p:blipFill>
        <p:spPr>
          <a:xfrm>
            <a:off x="673425" y="1334841"/>
            <a:ext cx="311262" cy="311262"/>
          </a:xfrm>
          <a:prstGeom prst="rect">
            <a:avLst/>
          </a:prstGeom>
        </p:spPr>
      </p:pic>
      <p:sp>
        <p:nvSpPr>
          <p:cNvPr id="7" name="Text 4"/>
          <p:cNvSpPr/>
          <p:nvPr/>
        </p:nvSpPr>
        <p:spPr>
          <a:xfrm>
            <a:off x="1231392" y="1207008"/>
            <a:ext cx="2834640" cy="566928"/>
          </a:xfrm>
          <a:prstGeom prst="rect">
            <a:avLst/>
          </a:prstGeom>
          <a:noFill/>
          <a:ln/>
        </p:spPr>
        <p:txBody>
          <a:bodyPr wrap="square" lIns="0" tIns="0" rIns="0" bIns="0"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Match training and inference exactly</a:t>
            </a:r>
            <a:endParaRPr lang="en-US" sz="1150" dirty="0"/>
          </a:p>
        </p:txBody>
      </p:sp>
      <p:sp>
        <p:nvSpPr>
          <p:cNvPr id="8" name="Text 5"/>
          <p:cNvSpPr/>
          <p:nvPr/>
        </p:nvSpPr>
        <p:spPr>
          <a:xfrm>
            <a:off x="4157472" y="1207008"/>
            <a:ext cx="4297680" cy="566928"/>
          </a:xfrm>
          <a:prstGeom prst="rect">
            <a:avLst/>
          </a:prstGeom>
          <a:noFill/>
          <a:ln/>
        </p:spPr>
        <p:txBody>
          <a:bodyPr wrap="square" lIns="0" tIns="0" rIns="0" bIns="0" rtlCol="0" anchor="ctr"/>
          <a:lstStyle/>
          <a:p>
            <a:pPr marL="0" indent="0">
              <a:lnSpc>
                <a:spcPct val="105000"/>
              </a:lnSpc>
              <a:buNone/>
            </a:pPr>
            <a:r>
              <a:rPr lang="en-US" sz="1000" dirty="0">
                <a:solidFill>
                  <a:srgbClr val="AAB6BD"/>
                </a:solidFill>
                <a:latin typeface="Calibri" pitchFamily="34" charset="0"/>
                <a:ea typeface="Calibri" pitchFamily="34" charset="-122"/>
                <a:cs typeface="Calibri" pitchFamily="34" charset="-120"/>
              </a:rPr>
              <a:t>The normalization mismatch would have been invisible — we only caught it by reading the eval code line by line.</a:t>
            </a:r>
            <a:endParaRPr lang="en-US" sz="1000" dirty="0"/>
          </a:p>
        </p:txBody>
      </p:sp>
      <p:sp>
        <p:nvSpPr>
          <p:cNvPr id="9" name="Shape 6"/>
          <p:cNvSpPr/>
          <p:nvPr/>
        </p:nvSpPr>
        <p:spPr>
          <a:xfrm>
            <a:off x="454152" y="1911096"/>
            <a:ext cx="8138160" cy="749808"/>
          </a:xfrm>
          <a:prstGeom prst="roundRect">
            <a:avLst>
              <a:gd name="adj" fmla="val 7317"/>
            </a:avLst>
          </a:prstGeom>
          <a:solidFill>
            <a:srgbClr val="3D4A53"/>
          </a:solidFill>
          <a:ln/>
        </p:spPr>
        <p:txBody>
          <a:bodyPr/>
          <a:lstStyle/>
          <a:p>
            <a:endParaRPr lang="LID4096"/>
          </a:p>
        </p:txBody>
      </p:sp>
      <p:sp>
        <p:nvSpPr>
          <p:cNvPr id="10" name="Shape 7"/>
          <p:cNvSpPr/>
          <p:nvPr/>
        </p:nvSpPr>
        <p:spPr>
          <a:xfrm>
            <a:off x="618744" y="2075688"/>
            <a:ext cx="420624" cy="420624"/>
          </a:xfrm>
          <a:prstGeom prst="ellipse">
            <a:avLst/>
          </a:prstGeom>
          <a:solidFill>
            <a:srgbClr val="0D9488"/>
          </a:solidFill>
          <a:ln/>
        </p:spPr>
        <p:txBody>
          <a:bodyPr/>
          <a:lstStyle/>
          <a:p>
            <a:endParaRPr lang="LID4096"/>
          </a:p>
        </p:txBody>
      </p:sp>
      <p:pic>
        <p:nvPicPr>
          <p:cNvPr id="11" name="Image 1" descr="preencoded.png"/>
          <p:cNvPicPr>
            <a:picLocks noChangeAspect="1"/>
          </p:cNvPicPr>
          <p:nvPr/>
        </p:nvPicPr>
        <p:blipFill>
          <a:blip r:embed="rId4"/>
          <a:stretch>
            <a:fillRect/>
          </a:stretch>
        </p:blipFill>
        <p:spPr>
          <a:xfrm>
            <a:off x="673425" y="2130369"/>
            <a:ext cx="311262" cy="311262"/>
          </a:xfrm>
          <a:prstGeom prst="rect">
            <a:avLst/>
          </a:prstGeom>
        </p:spPr>
      </p:pic>
      <p:sp>
        <p:nvSpPr>
          <p:cNvPr id="12" name="Text 8"/>
          <p:cNvSpPr/>
          <p:nvPr/>
        </p:nvSpPr>
        <p:spPr>
          <a:xfrm>
            <a:off x="1231392" y="2002536"/>
            <a:ext cx="2834640" cy="566928"/>
          </a:xfrm>
          <a:prstGeom prst="rect">
            <a:avLst/>
          </a:prstGeom>
          <a:noFill/>
          <a:ln/>
        </p:spPr>
        <p:txBody>
          <a:bodyPr wrap="square" lIns="0" tIns="0" rIns="0" bIns="0"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Read competition hints carefully</a:t>
            </a:r>
            <a:endParaRPr lang="en-US" sz="1150" dirty="0"/>
          </a:p>
        </p:txBody>
      </p:sp>
      <p:sp>
        <p:nvSpPr>
          <p:cNvPr id="13" name="Text 9"/>
          <p:cNvSpPr/>
          <p:nvPr/>
        </p:nvSpPr>
        <p:spPr>
          <a:xfrm>
            <a:off x="4157472" y="2002536"/>
            <a:ext cx="4297680" cy="566928"/>
          </a:xfrm>
          <a:prstGeom prst="rect">
            <a:avLst/>
          </a:prstGeom>
          <a:noFill/>
          <a:ln/>
        </p:spPr>
        <p:txBody>
          <a:bodyPr wrap="square" lIns="0" tIns="0" rIns="0" bIns="0" rtlCol="0" anchor="ctr"/>
          <a:lstStyle/>
          <a:p>
            <a:pPr marL="0" indent="0">
              <a:lnSpc>
                <a:spcPct val="105000"/>
              </a:lnSpc>
              <a:buNone/>
            </a:pPr>
            <a:r>
              <a:rPr lang="en-US" sz="1000" dirty="0">
                <a:solidFill>
                  <a:srgbClr val="AAB6BD"/>
                </a:solidFill>
                <a:latin typeface="Calibri" pitchFamily="34" charset="0"/>
                <a:ea typeface="Calibri" pitchFamily="34" charset="-122"/>
                <a:cs typeface="Calibri" pitchFamily="34" charset="-120"/>
              </a:rPr>
              <a:t>Both rotation augmentations came directly from the organizers' rotational-symmetry hint.</a:t>
            </a:r>
            <a:endParaRPr lang="en-US" sz="1000" dirty="0"/>
          </a:p>
        </p:txBody>
      </p:sp>
      <p:sp>
        <p:nvSpPr>
          <p:cNvPr id="14" name="Shape 10"/>
          <p:cNvSpPr/>
          <p:nvPr/>
        </p:nvSpPr>
        <p:spPr>
          <a:xfrm>
            <a:off x="454152" y="2706624"/>
            <a:ext cx="8138160" cy="749808"/>
          </a:xfrm>
          <a:prstGeom prst="roundRect">
            <a:avLst>
              <a:gd name="adj" fmla="val 7317"/>
            </a:avLst>
          </a:prstGeom>
          <a:solidFill>
            <a:srgbClr val="3D4A53"/>
          </a:solidFill>
          <a:ln/>
        </p:spPr>
        <p:txBody>
          <a:bodyPr/>
          <a:lstStyle/>
          <a:p>
            <a:endParaRPr lang="LID4096"/>
          </a:p>
        </p:txBody>
      </p:sp>
      <p:sp>
        <p:nvSpPr>
          <p:cNvPr id="15" name="Shape 11"/>
          <p:cNvSpPr/>
          <p:nvPr/>
        </p:nvSpPr>
        <p:spPr>
          <a:xfrm>
            <a:off x="618744" y="2871216"/>
            <a:ext cx="420624" cy="420624"/>
          </a:xfrm>
          <a:prstGeom prst="ellipse">
            <a:avLst/>
          </a:prstGeom>
          <a:solidFill>
            <a:srgbClr val="0D9488"/>
          </a:solidFill>
          <a:ln/>
        </p:spPr>
        <p:txBody>
          <a:bodyPr/>
          <a:lstStyle/>
          <a:p>
            <a:endParaRPr lang="LID4096"/>
          </a:p>
        </p:txBody>
      </p:sp>
      <p:pic>
        <p:nvPicPr>
          <p:cNvPr id="16" name="Image 2" descr="preencoded.png"/>
          <p:cNvPicPr>
            <a:picLocks noChangeAspect="1"/>
          </p:cNvPicPr>
          <p:nvPr/>
        </p:nvPicPr>
        <p:blipFill>
          <a:blip r:embed="rId5"/>
          <a:stretch>
            <a:fillRect/>
          </a:stretch>
        </p:blipFill>
        <p:spPr>
          <a:xfrm>
            <a:off x="673425" y="2925897"/>
            <a:ext cx="311262" cy="311262"/>
          </a:xfrm>
          <a:prstGeom prst="rect">
            <a:avLst/>
          </a:prstGeom>
        </p:spPr>
      </p:pic>
      <p:sp>
        <p:nvSpPr>
          <p:cNvPr id="17" name="Text 12"/>
          <p:cNvSpPr/>
          <p:nvPr/>
        </p:nvSpPr>
        <p:spPr>
          <a:xfrm>
            <a:off x="1231392" y="2798064"/>
            <a:ext cx="2834640" cy="566928"/>
          </a:xfrm>
          <a:prstGeom prst="rect">
            <a:avLst/>
          </a:prstGeom>
          <a:noFill/>
          <a:ln/>
        </p:spPr>
        <p:txBody>
          <a:bodyPr wrap="square" lIns="0" tIns="0" rIns="0" bIns="0"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Freeze before fine-tuning</a:t>
            </a:r>
            <a:endParaRPr lang="en-US" sz="1150" dirty="0"/>
          </a:p>
        </p:txBody>
      </p:sp>
      <p:sp>
        <p:nvSpPr>
          <p:cNvPr id="18" name="Text 13"/>
          <p:cNvSpPr/>
          <p:nvPr/>
        </p:nvSpPr>
        <p:spPr>
          <a:xfrm>
            <a:off x="4157472" y="2798064"/>
            <a:ext cx="4297680" cy="566928"/>
          </a:xfrm>
          <a:prstGeom prst="rect">
            <a:avLst/>
          </a:prstGeom>
          <a:noFill/>
          <a:ln/>
        </p:spPr>
        <p:txBody>
          <a:bodyPr wrap="square" lIns="0" tIns="0" rIns="0" bIns="0" rtlCol="0" anchor="ctr"/>
          <a:lstStyle/>
          <a:p>
            <a:pPr marL="0" indent="0">
              <a:lnSpc>
                <a:spcPct val="105000"/>
              </a:lnSpc>
              <a:buNone/>
            </a:pPr>
            <a:r>
              <a:rPr lang="en-US" sz="1000" dirty="0">
                <a:solidFill>
                  <a:srgbClr val="AAB6BD"/>
                </a:solidFill>
                <a:latin typeface="Calibri" pitchFamily="34" charset="0"/>
                <a:ea typeface="Calibri" pitchFamily="34" charset="-122"/>
                <a:cs typeface="Calibri" pitchFamily="34" charset="-120"/>
              </a:rPr>
              <a:t>Training the head first, then unfreezing the backbone, made training noticeably more stable.</a:t>
            </a:r>
            <a:endParaRPr lang="en-US" sz="1000" dirty="0"/>
          </a:p>
        </p:txBody>
      </p:sp>
      <p:sp>
        <p:nvSpPr>
          <p:cNvPr id="24" name="Shape 18"/>
          <p:cNvSpPr/>
          <p:nvPr/>
        </p:nvSpPr>
        <p:spPr>
          <a:xfrm>
            <a:off x="454152" y="3511113"/>
            <a:ext cx="8138160" cy="749808"/>
          </a:xfrm>
          <a:prstGeom prst="roundRect">
            <a:avLst>
              <a:gd name="adj" fmla="val 7317"/>
            </a:avLst>
          </a:prstGeom>
          <a:solidFill>
            <a:srgbClr val="3D4A53"/>
          </a:solidFill>
          <a:ln/>
        </p:spPr>
        <p:txBody>
          <a:bodyPr/>
          <a:lstStyle/>
          <a:p>
            <a:endParaRPr lang="LID4096"/>
          </a:p>
        </p:txBody>
      </p:sp>
      <p:sp>
        <p:nvSpPr>
          <p:cNvPr id="25" name="Shape 19"/>
          <p:cNvSpPr/>
          <p:nvPr/>
        </p:nvSpPr>
        <p:spPr>
          <a:xfrm>
            <a:off x="618744" y="3675705"/>
            <a:ext cx="420624" cy="420624"/>
          </a:xfrm>
          <a:prstGeom prst="ellipse">
            <a:avLst/>
          </a:prstGeom>
          <a:solidFill>
            <a:srgbClr val="0D9488"/>
          </a:solidFill>
          <a:ln/>
        </p:spPr>
        <p:txBody>
          <a:bodyPr/>
          <a:lstStyle/>
          <a:p>
            <a:endParaRPr lang="LID4096"/>
          </a:p>
        </p:txBody>
      </p:sp>
      <p:pic>
        <p:nvPicPr>
          <p:cNvPr id="26" name="Image 4" descr="preencoded.png"/>
          <p:cNvPicPr>
            <a:picLocks noChangeAspect="1"/>
          </p:cNvPicPr>
          <p:nvPr/>
        </p:nvPicPr>
        <p:blipFill>
          <a:blip r:embed="rId6"/>
          <a:stretch>
            <a:fillRect/>
          </a:stretch>
        </p:blipFill>
        <p:spPr>
          <a:xfrm>
            <a:off x="673425" y="3730386"/>
            <a:ext cx="311262" cy="311262"/>
          </a:xfrm>
          <a:prstGeom prst="rect">
            <a:avLst/>
          </a:prstGeom>
        </p:spPr>
      </p:pic>
      <p:sp>
        <p:nvSpPr>
          <p:cNvPr id="27" name="Text 20"/>
          <p:cNvSpPr/>
          <p:nvPr/>
        </p:nvSpPr>
        <p:spPr>
          <a:xfrm>
            <a:off x="1231392" y="3602553"/>
            <a:ext cx="2834640" cy="566928"/>
          </a:xfrm>
          <a:prstGeom prst="rect">
            <a:avLst/>
          </a:prstGeom>
          <a:noFill/>
          <a:ln/>
        </p:spPr>
        <p:txBody>
          <a:bodyPr wrap="square" lIns="0" tIns="0" rIns="0" bIns="0"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Speed and accuracy trade off</a:t>
            </a:r>
            <a:endParaRPr lang="en-US" sz="1150" dirty="0"/>
          </a:p>
        </p:txBody>
      </p:sp>
      <p:sp>
        <p:nvSpPr>
          <p:cNvPr id="28" name="Text 21"/>
          <p:cNvSpPr/>
          <p:nvPr/>
        </p:nvSpPr>
        <p:spPr>
          <a:xfrm>
            <a:off x="4157472" y="3602553"/>
            <a:ext cx="4297680" cy="566928"/>
          </a:xfrm>
          <a:prstGeom prst="rect">
            <a:avLst/>
          </a:prstGeom>
          <a:noFill/>
          <a:ln/>
        </p:spPr>
        <p:txBody>
          <a:bodyPr wrap="square" lIns="0" tIns="0" rIns="0" bIns="0" rtlCol="0" anchor="ctr"/>
          <a:lstStyle/>
          <a:p>
            <a:pPr marL="0" indent="0">
              <a:lnSpc>
                <a:spcPct val="105000"/>
              </a:lnSpc>
              <a:buNone/>
            </a:pPr>
            <a:r>
              <a:rPr lang="en-US" sz="1000" dirty="0">
                <a:solidFill>
                  <a:srgbClr val="AAB6BD"/>
                </a:solidFill>
                <a:latin typeface="Calibri" pitchFamily="34" charset="0"/>
                <a:ea typeface="Calibri" pitchFamily="34" charset="-122"/>
                <a:cs typeface="Calibri" pitchFamily="34" charset="-120"/>
              </a:rPr>
              <a:t>EfficientNet-B3 lowered our efficiency score — worth exploring further with more time.</a:t>
            </a:r>
            <a:endParaRPr lang="en-US" sz="1000" dirty="0"/>
          </a:p>
        </p:txBody>
      </p:sp>
      <p:sp>
        <p:nvSpPr>
          <p:cNvPr id="29" name="Text 22"/>
          <p:cNvSpPr/>
          <p:nvPr/>
        </p:nvSpPr>
        <p:spPr>
          <a:xfrm>
            <a:off x="8592312" y="4787756"/>
            <a:ext cx="4114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36"/>
        </a:solidFill>
        <a:effectLst/>
      </p:bgPr>
    </p:bg>
    <p:spTree>
      <p:nvGrpSpPr>
        <p:cNvPr id="1" name=""/>
        <p:cNvGrpSpPr/>
        <p:nvPr/>
      </p:nvGrpSpPr>
      <p:grpSpPr>
        <a:xfrm>
          <a:off x="0" y="0"/>
          <a:ext cx="0" cy="0"/>
          <a:chOff x="0" y="0"/>
          <a:chExt cx="0" cy="0"/>
        </a:xfrm>
      </p:grpSpPr>
      <p:sp>
        <p:nvSpPr>
          <p:cNvPr id="4" name="Text 1"/>
          <p:cNvSpPr/>
          <p:nvPr/>
        </p:nvSpPr>
        <p:spPr>
          <a:xfrm>
            <a:off x="502920" y="1593344"/>
            <a:ext cx="813816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5" name="Text 2"/>
          <p:cNvSpPr/>
          <p:nvPr/>
        </p:nvSpPr>
        <p:spPr>
          <a:xfrm>
            <a:off x="502920" y="2440512"/>
            <a:ext cx="8138160" cy="365760"/>
          </a:xfrm>
          <a:prstGeom prst="rect">
            <a:avLst/>
          </a:prstGeom>
          <a:noFill/>
          <a:ln/>
        </p:spPr>
        <p:txBody>
          <a:bodyPr wrap="square" lIns="0" tIns="0" rIns="0" bIns="0" rtlCol="0" anchor="ctr"/>
          <a:lstStyle/>
          <a:p>
            <a:pPr marL="0" indent="0" algn="ctr">
              <a:buNone/>
            </a:pPr>
            <a:endParaRPr lang="en-US" sz="1400" dirty="0">
              <a:solidFill>
                <a:srgbClr val="B9C4CC"/>
              </a:solidFill>
              <a:latin typeface="Calibri" pitchFamily="34" charset="0"/>
              <a:ea typeface="Calibri" pitchFamily="34" charset="-122"/>
              <a:cs typeface="Calibri" pitchFamily="34" charset="-120"/>
            </a:endParaRPr>
          </a:p>
          <a:p>
            <a:pPr marL="0" indent="0" algn="ctr">
              <a:buNone/>
            </a:pPr>
            <a:r>
              <a:rPr lang="en-US" sz="1400" dirty="0">
                <a:solidFill>
                  <a:srgbClr val="B9C4CC"/>
                </a:solidFill>
                <a:latin typeface="Calibri" pitchFamily="34" charset="0"/>
                <a:ea typeface="Calibri" pitchFamily="34" charset="-122"/>
                <a:cs typeface="Calibri" pitchFamily="34" charset="-120"/>
              </a:rPr>
              <a:t>Vannesa </a:t>
            </a:r>
            <a:r>
              <a:rPr lang="en-US" sz="1400" dirty="0" err="1">
                <a:solidFill>
                  <a:srgbClr val="B9C4CC"/>
                </a:solidFill>
                <a:latin typeface="Calibri" pitchFamily="34" charset="0"/>
                <a:ea typeface="Calibri" pitchFamily="34" charset="-122"/>
                <a:cs typeface="Calibri" pitchFamily="34" charset="-120"/>
              </a:rPr>
              <a:t>Hozanovic</a:t>
            </a:r>
            <a:r>
              <a:rPr lang="en-US" sz="1400" dirty="0">
                <a:solidFill>
                  <a:srgbClr val="B9C4CC"/>
                </a:solidFill>
                <a:latin typeface="Calibri" pitchFamily="34" charset="0"/>
                <a:ea typeface="Calibri" pitchFamily="34" charset="-122"/>
                <a:cs typeface="Calibri" pitchFamily="34" charset="-120"/>
              </a:rPr>
              <a:t> &amp; Jonathan Yung</a:t>
            </a:r>
            <a:endParaRPr lang="en-US" sz="1400" dirty="0"/>
          </a:p>
        </p:txBody>
      </p:sp>
      <p:sp>
        <p:nvSpPr>
          <p:cNvPr id="6" name="Shape 3"/>
          <p:cNvSpPr/>
          <p:nvPr/>
        </p:nvSpPr>
        <p:spPr>
          <a:xfrm>
            <a:off x="1188720" y="3200400"/>
            <a:ext cx="6766560" cy="9144"/>
          </a:xfrm>
          <a:prstGeom prst="rect">
            <a:avLst/>
          </a:prstGeom>
          <a:solidFill>
            <a:srgbClr val="44505A"/>
          </a:solidFill>
          <a:ln/>
        </p:spPr>
        <p:txBody>
          <a:bodyPr/>
          <a:lstStyle/>
          <a:p>
            <a:endParaRPr lang="LID4096"/>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718</TotalTime>
  <Words>2734</Words>
  <Application>Microsoft Office PowerPoint</Application>
  <PresentationFormat>On-screen Show (16:9)</PresentationFormat>
  <Paragraphs>146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Krones Vision AI Challenge - Group 30</dc:title>
  <dc:subject>PptxGenJS Presentation</dc:subject>
  <dc:creator>Group 30 - VisionImpossible</dc:creator>
  <cp:lastModifiedBy>Jonathan Yung</cp:lastModifiedBy>
  <cp:revision>81</cp:revision>
  <dcterms:created xsi:type="dcterms:W3CDTF">2026-06-26T18:35:23Z</dcterms:created>
  <dcterms:modified xsi:type="dcterms:W3CDTF">2026-06-27T06:59:44Z</dcterms:modified>
</cp:coreProperties>
</file>